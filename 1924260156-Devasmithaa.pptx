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78" r:id="rId7"/>
    <p:sldId id="261" r:id="rId8"/>
    <p:sldId id="263" r:id="rId9"/>
    <p:sldId id="264" r:id="rId10"/>
    <p:sldId id="265" r:id="rId11"/>
    <p:sldId id="280" r:id="rId12"/>
    <p:sldId id="268" r:id="rId13"/>
    <p:sldId id="279" r:id="rId14"/>
    <p:sldId id="271" r:id="rId15"/>
    <p:sldId id="275" r:id="rId16"/>
    <p:sldId id="276" r:id="rId17"/>
    <p:sldId id="277" r:id="rId18"/>
  </p:sldIdLst>
  <p:sldSz cx="18288000" cy="10287000"/>
  <p:notesSz cx="6858000" cy="9144000"/>
  <p:embeddedFontLst>
    <p:embeddedFont>
      <p:font typeface="Arabic Typesetting" panose="03020402040406030203" pitchFamily="66" charset="-78"/>
      <p:regular r:id="rId20"/>
    </p:embeddedFont>
    <p:embeddedFont>
      <p:font typeface="Baskerville Display PT" panose="020B0604020202020204" charset="0"/>
      <p:regular r:id="rId21"/>
    </p:embeddedFont>
    <p:embeddedFont>
      <p:font typeface="Baskerville Display PT Bold" panose="020B0604020202020204" charset="0"/>
      <p:regular r:id="rId22"/>
    </p:embeddedFont>
    <p:embeddedFont>
      <p:font typeface="Century Gothic Paneuropean" panose="020B0604020202020204" charset="0"/>
      <p:regular r:id="rId23"/>
    </p:embeddedFont>
    <p:embeddedFont>
      <p:font typeface="Century Gothic Paneuropean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C8D9ED">
                <a:alpha val="0"/>
              </a:srgbClr>
            </a:gs>
            <a:gs pos="100000">
              <a:srgbClr val="ACCBF9">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4916357" y="0"/>
            <a:ext cx="13381168" cy="10309241"/>
            <a:chOff x="0" y="0"/>
            <a:chExt cx="17841557" cy="13745654"/>
          </a:xfrm>
        </p:grpSpPr>
        <p:sp>
          <p:nvSpPr>
            <p:cNvPr id="3" name="Freeform 3" descr="A white circles on a black background  Description automatically generated"/>
            <p:cNvSpPr/>
            <p:nvPr/>
          </p:nvSpPr>
          <p:spPr>
            <a:xfrm>
              <a:off x="0" y="0"/>
              <a:ext cx="17841595" cy="13745590"/>
            </a:xfrm>
            <a:custGeom>
              <a:avLst/>
              <a:gdLst/>
              <a:ahLst/>
              <a:cxnLst/>
              <a:rect l="l" t="t" r="r" b="b"/>
              <a:pathLst>
                <a:path w="17841595" h="13745590">
                  <a:moveTo>
                    <a:pt x="0" y="0"/>
                  </a:moveTo>
                  <a:lnTo>
                    <a:pt x="17841595" y="0"/>
                  </a:lnTo>
                  <a:lnTo>
                    <a:pt x="17841595" y="13745590"/>
                  </a:lnTo>
                  <a:lnTo>
                    <a:pt x="0" y="13745590"/>
                  </a:lnTo>
                  <a:lnTo>
                    <a:pt x="0" y="0"/>
                  </a:lnTo>
                  <a:close/>
                </a:path>
              </a:pathLst>
            </a:custGeom>
            <a:blipFill>
              <a:blip r:embed="rId3"/>
              <a:stretch>
                <a:fillRect t="-15534" r="-4280" b="-19500"/>
              </a:stretch>
            </a:blipFill>
          </p:spPr>
          <p:txBody>
            <a:bodyPr/>
            <a:lstStyle/>
            <a:p>
              <a:endParaRPr lang="en-IN"/>
            </a:p>
          </p:txBody>
        </p:sp>
      </p:grpSp>
      <p:sp>
        <p:nvSpPr>
          <p:cNvPr id="4" name="Freeform 4"/>
          <p:cNvSpPr/>
          <p:nvPr/>
        </p:nvSpPr>
        <p:spPr>
          <a:xfrm>
            <a:off x="16476221" y="7486507"/>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5189956" y="5376301"/>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6" name="Group 6"/>
          <p:cNvGrpSpPr/>
          <p:nvPr/>
        </p:nvGrpSpPr>
        <p:grpSpPr>
          <a:xfrm>
            <a:off x="1027119" y="3467100"/>
            <a:ext cx="10631481" cy="3200400"/>
            <a:chOff x="0" y="-1158455"/>
            <a:chExt cx="14864461" cy="8797271"/>
          </a:xfrm>
        </p:grpSpPr>
        <p:sp>
          <p:nvSpPr>
            <p:cNvPr id="7" name="Freeform 7"/>
            <p:cNvSpPr/>
            <p:nvPr/>
          </p:nvSpPr>
          <p:spPr>
            <a:xfrm>
              <a:off x="0" y="0"/>
              <a:ext cx="14864460" cy="7638816"/>
            </a:xfrm>
            <a:custGeom>
              <a:avLst/>
              <a:gdLst/>
              <a:ahLst/>
              <a:cxnLst/>
              <a:rect l="l" t="t" r="r" b="b"/>
              <a:pathLst>
                <a:path w="14864460" h="7638816">
                  <a:moveTo>
                    <a:pt x="0" y="0"/>
                  </a:moveTo>
                  <a:lnTo>
                    <a:pt x="14864460" y="0"/>
                  </a:lnTo>
                  <a:lnTo>
                    <a:pt x="14864460" y="7638816"/>
                  </a:lnTo>
                  <a:lnTo>
                    <a:pt x="0" y="7638816"/>
                  </a:lnTo>
                  <a:close/>
                </a:path>
              </a:pathLst>
            </a:custGeom>
            <a:blipFill>
              <a:blip r:embed="rId5">
                <a:alphaModFix amt="0"/>
              </a:blip>
              <a:stretch>
                <a:fillRect l="-15934" r="-15934"/>
              </a:stretch>
            </a:blipFill>
          </p:spPr>
          <p:txBody>
            <a:bodyPr/>
            <a:lstStyle/>
            <a:p>
              <a:endParaRPr lang="en-IN"/>
            </a:p>
          </p:txBody>
        </p:sp>
        <p:sp>
          <p:nvSpPr>
            <p:cNvPr id="8" name="TextBox 8"/>
            <p:cNvSpPr txBox="1"/>
            <p:nvPr/>
          </p:nvSpPr>
          <p:spPr>
            <a:xfrm>
              <a:off x="0" y="-1158455"/>
              <a:ext cx="14864461" cy="7010398"/>
            </a:xfrm>
            <a:prstGeom prst="rect">
              <a:avLst/>
            </a:prstGeom>
          </p:spPr>
          <p:txBody>
            <a:bodyPr lIns="0" tIns="0" rIns="0" bIns="0" rtlCol="0" anchor="b"/>
            <a:lstStyle/>
            <a:p>
              <a:pPr algn="l">
                <a:lnSpc>
                  <a:spcPts val="9727"/>
                </a:lnSpc>
              </a:pPr>
              <a:r>
                <a:rPr lang="en-US" sz="8106" b="1" dirty="0">
                  <a:solidFill>
                    <a:srgbClr val="262626"/>
                  </a:solidFill>
                  <a:latin typeface="Arabic Typesetting" panose="03020402040406030203" pitchFamily="66" charset="-78"/>
                  <a:ea typeface="Arimo Bold"/>
                  <a:cs typeface="Arabic Typesetting" panose="03020402040406030203" pitchFamily="66" charset="-78"/>
                  <a:sym typeface="Arimo Bold"/>
                </a:rPr>
                <a:t>Virtual Quiz Portal Stress Testing and Analytics Engine </a:t>
              </a:r>
            </a:p>
          </p:txBody>
        </p:sp>
      </p:grpSp>
      <p:sp>
        <p:nvSpPr>
          <p:cNvPr id="9" name="TextBox 9"/>
          <p:cNvSpPr txBox="1"/>
          <p:nvPr/>
        </p:nvSpPr>
        <p:spPr>
          <a:xfrm>
            <a:off x="12050716" y="4582763"/>
            <a:ext cx="5762425" cy="2014078"/>
          </a:xfrm>
          <a:prstGeom prst="rect">
            <a:avLst/>
          </a:prstGeom>
        </p:spPr>
        <p:txBody>
          <a:bodyPr lIns="0" tIns="0" rIns="0" bIns="0" rtlCol="0" anchor="t">
            <a:spAutoFit/>
          </a:bodyPr>
          <a:lstStyle/>
          <a:p>
            <a:pPr algn="l">
              <a:lnSpc>
                <a:spcPts val="3891"/>
              </a:lnSpc>
            </a:pPr>
            <a:r>
              <a:rPr lang="en-US" sz="3602" b="1" spc="64" dirty="0">
                <a:solidFill>
                  <a:srgbClr val="262626"/>
                </a:solidFill>
                <a:latin typeface="Baskerville Display PT Bold"/>
                <a:ea typeface="Baskerville Display PT Bold"/>
                <a:cs typeface="Baskerville Display PT Bold"/>
                <a:sym typeface="Baskerville Display PT Bold"/>
              </a:rPr>
              <a:t>PRESENTED BY</a:t>
            </a:r>
          </a:p>
          <a:p>
            <a:pPr algn="l">
              <a:lnSpc>
                <a:spcPts val="3891"/>
              </a:lnSpc>
            </a:pPr>
            <a:endParaRPr lang="en-US" sz="3602" spc="64" dirty="0">
              <a:solidFill>
                <a:srgbClr val="262626"/>
              </a:solidFill>
              <a:latin typeface="Baskerville Display PT"/>
              <a:ea typeface="Baskerville Display PT"/>
              <a:cs typeface="Baskerville Display PT"/>
              <a:sym typeface="Baskerville Display PT"/>
            </a:endParaRPr>
          </a:p>
          <a:p>
            <a:pPr algn="l">
              <a:lnSpc>
                <a:spcPts val="3891"/>
              </a:lnSpc>
            </a:pPr>
            <a:r>
              <a:rPr lang="en-US" sz="3602" spc="64" dirty="0">
                <a:solidFill>
                  <a:srgbClr val="262626"/>
                </a:solidFill>
                <a:latin typeface="Baskerville Display PT"/>
                <a:ea typeface="Baskerville Display PT"/>
                <a:cs typeface="Baskerville Display PT"/>
                <a:sym typeface="Baskerville Display PT"/>
              </a:rPr>
              <a:t>K.Devasmithaa-1924260156</a:t>
            </a:r>
          </a:p>
          <a:p>
            <a:pPr algn="l">
              <a:lnSpc>
                <a:spcPts val="3891"/>
              </a:lnSpc>
            </a:pPr>
            <a:endParaRPr lang="en-US" sz="3602" spc="64" dirty="0">
              <a:solidFill>
                <a:srgbClr val="262626"/>
              </a:solidFill>
              <a:latin typeface="Baskerville Display PT"/>
              <a:ea typeface="Baskerville Display PT"/>
              <a:cs typeface="Baskerville Display PT"/>
              <a:sym typeface="Baskerville Display PT"/>
            </a:endParaRPr>
          </a:p>
        </p:txBody>
      </p:sp>
      <p:grpSp>
        <p:nvGrpSpPr>
          <p:cNvPr id="10" name="Group 10"/>
          <p:cNvGrpSpPr/>
          <p:nvPr/>
        </p:nvGrpSpPr>
        <p:grpSpPr>
          <a:xfrm>
            <a:off x="0" y="-252956"/>
            <a:ext cx="18828006" cy="2563313"/>
            <a:chOff x="0" y="0"/>
            <a:chExt cx="24396713" cy="3321456"/>
          </a:xfrm>
        </p:grpSpPr>
        <p:sp>
          <p:nvSpPr>
            <p:cNvPr id="11" name="Freeform 11"/>
            <p:cNvSpPr/>
            <p:nvPr/>
          </p:nvSpPr>
          <p:spPr>
            <a:xfrm>
              <a:off x="0" y="0"/>
              <a:ext cx="24396700" cy="3321431"/>
            </a:xfrm>
            <a:custGeom>
              <a:avLst/>
              <a:gdLst/>
              <a:ahLst/>
              <a:cxnLst/>
              <a:rect l="l" t="t" r="r" b="b"/>
              <a:pathLst>
                <a:path w="24396700" h="3321431">
                  <a:moveTo>
                    <a:pt x="0" y="0"/>
                  </a:moveTo>
                  <a:lnTo>
                    <a:pt x="24396700" y="0"/>
                  </a:lnTo>
                  <a:lnTo>
                    <a:pt x="24396700" y="3321431"/>
                  </a:lnTo>
                  <a:lnTo>
                    <a:pt x="0" y="3321431"/>
                  </a:lnTo>
                  <a:lnTo>
                    <a:pt x="0" y="0"/>
                  </a:lnTo>
                  <a:close/>
                </a:path>
              </a:pathLst>
            </a:custGeom>
            <a:blipFill>
              <a:blip r:embed="rId6"/>
              <a:stretch>
                <a:fillRect l="-2974" r="-2974"/>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141514" cy="10295039"/>
            <a:chOff x="0" y="0"/>
            <a:chExt cx="1522019" cy="13726719"/>
          </a:xfrm>
        </p:grpSpPr>
        <p:sp>
          <p:nvSpPr>
            <p:cNvPr id="3" name="Freeform 3"/>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4" name="Freeform 4"/>
          <p:cNvSpPr/>
          <p:nvPr/>
        </p:nvSpPr>
        <p:spPr>
          <a:xfrm>
            <a:off x="12237282" y="8512473"/>
            <a:ext cx="1029500" cy="1029500"/>
          </a:xfrm>
          <a:custGeom>
            <a:avLst/>
            <a:gdLst/>
            <a:ahLst/>
            <a:cxnLst/>
            <a:rect l="l" t="t" r="r" b="b"/>
            <a:pathLst>
              <a:path w="1029500" h="1029500">
                <a:moveTo>
                  <a:pt x="0" y="0"/>
                </a:moveTo>
                <a:lnTo>
                  <a:pt x="1029500" y="0"/>
                </a:lnTo>
                <a:lnTo>
                  <a:pt x="1029500" y="1029501"/>
                </a:lnTo>
                <a:lnTo>
                  <a:pt x="0" y="10295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1036189" y="6634582"/>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2923615" y="-33023"/>
            <a:ext cx="5373919" cy="10361095"/>
          </a:xfrm>
          <a:custGeom>
            <a:avLst/>
            <a:gdLst/>
            <a:ahLst/>
            <a:cxnLst/>
            <a:rect l="l" t="t" r="r" b="b"/>
            <a:pathLst>
              <a:path w="5373919" h="10361095">
                <a:moveTo>
                  <a:pt x="0" y="0"/>
                </a:moveTo>
                <a:lnTo>
                  <a:pt x="5373920" y="0"/>
                </a:lnTo>
                <a:lnTo>
                  <a:pt x="5373920" y="10361095"/>
                </a:lnTo>
                <a:lnTo>
                  <a:pt x="0" y="103610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4953001" y="217799"/>
            <a:ext cx="9267278" cy="807913"/>
          </a:xfrm>
          <a:prstGeom prst="rect">
            <a:avLst/>
          </a:prstGeom>
        </p:spPr>
        <p:txBody>
          <a:bodyPr wrap="square" lIns="0" tIns="0" rIns="0" bIns="0" rtlCol="0" anchor="t">
            <a:spAutoFit/>
          </a:bodyPr>
          <a:lstStyle/>
          <a:p>
            <a:pPr algn="l">
              <a:lnSpc>
                <a:spcPts val="6340"/>
              </a:lnSpc>
            </a:pPr>
            <a:r>
              <a:rPr lang="en-US" sz="4800" b="1" spc="118" dirty="0">
                <a:solidFill>
                  <a:srgbClr val="262626"/>
                </a:solidFill>
                <a:latin typeface="Baskerville Display PT Bold"/>
                <a:ea typeface="Baskerville Display PT Bold"/>
                <a:cs typeface="Baskerville Display PT Bold"/>
                <a:sym typeface="Baskerville Display PT Bold"/>
              </a:rPr>
              <a:t>TABLE OF CONTENT </a:t>
            </a:r>
          </a:p>
        </p:txBody>
      </p:sp>
      <p:sp>
        <p:nvSpPr>
          <p:cNvPr id="8" name="TextBox 8"/>
          <p:cNvSpPr txBox="1"/>
          <p:nvPr/>
        </p:nvSpPr>
        <p:spPr>
          <a:xfrm>
            <a:off x="1120921" y="2109254"/>
            <a:ext cx="12747479" cy="8926290"/>
          </a:xfrm>
          <a:prstGeom prst="rect">
            <a:avLst/>
          </a:prstGeom>
        </p:spPr>
        <p:txBody>
          <a:bodyPr wrap="square" lIns="0" tIns="0" rIns="0" bIns="0" rtlCol="0" anchor="t">
            <a:spAutoFit/>
          </a:bodyPr>
          <a:lstStyle/>
          <a:p>
            <a:pPr marL="640633" lvl="1" indent="-320316" algn="l">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Abstract</a:t>
            </a: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gn="l">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Introduction</a:t>
            </a: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gn="l">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Problem Identification and Analysis</a:t>
            </a: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gn="l">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Solution Design and Implementation</a:t>
            </a: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gn="l">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Result and Recommendation</a:t>
            </a: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Reflection on Learning and Personal Development</a:t>
            </a:r>
          </a:p>
          <a:p>
            <a:pPr marL="640633" lvl="1" indent="-320316">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Conclusion</a:t>
            </a:r>
          </a:p>
          <a:p>
            <a:pPr marL="640633" lvl="1" indent="-320316">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Reference</a:t>
            </a: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a:p>
            <a:pPr marL="640633" lvl="1" indent="-320316" algn="l">
              <a:lnSpc>
                <a:spcPts val="4094"/>
              </a:lnSpc>
              <a:buFont typeface="Arial"/>
              <a:buChar char="•"/>
            </a:pPr>
            <a:endParaRPr lang="en-US" sz="3102" spc="55" dirty="0">
              <a:solidFill>
                <a:srgbClr val="262626"/>
              </a:solidFill>
              <a:latin typeface="Baskerville Display PT"/>
              <a:ea typeface="Baskerville Display PT"/>
              <a:cs typeface="Baskerville Display PT"/>
              <a:sym typeface="Baskerville Display PT"/>
            </a:endParaRPr>
          </a:p>
        </p:txBody>
      </p:sp>
      <p:grpSp>
        <p:nvGrpSpPr>
          <p:cNvPr id="12" name="Group 11">
            <a:extLst>
              <a:ext uri="{FF2B5EF4-FFF2-40B4-BE49-F238E27FC236}">
                <a16:creationId xmlns:a16="http://schemas.microsoft.com/office/drawing/2014/main" id="{ED856769-AD0B-0DC2-9003-3B7C6F24AA4D}"/>
              </a:ext>
            </a:extLst>
          </p:cNvPr>
          <p:cNvGrpSpPr/>
          <p:nvPr/>
        </p:nvGrpSpPr>
        <p:grpSpPr>
          <a:xfrm>
            <a:off x="11096691" y="2950061"/>
            <a:ext cx="6520196" cy="4035657"/>
            <a:chOff x="0" y="0"/>
            <a:chExt cx="8693594" cy="5380876"/>
          </a:xfrm>
        </p:grpSpPr>
        <p:sp>
          <p:nvSpPr>
            <p:cNvPr id="13" name="Freeform 12">
              <a:extLst>
                <a:ext uri="{FF2B5EF4-FFF2-40B4-BE49-F238E27FC236}">
                  <a16:creationId xmlns:a16="http://schemas.microsoft.com/office/drawing/2014/main" id="{90C0EA8F-47A6-DC6D-0570-8D32532CE3A5}"/>
                </a:ext>
              </a:extLst>
            </p:cNvPr>
            <p:cNvSpPr/>
            <p:nvPr/>
          </p:nvSpPr>
          <p:spPr>
            <a:xfrm>
              <a:off x="0" y="0"/>
              <a:ext cx="8693531" cy="5380863"/>
            </a:xfrm>
            <a:custGeom>
              <a:avLst/>
              <a:gdLst/>
              <a:ahLst/>
              <a:cxnLst/>
              <a:rect l="l" t="t" r="r" b="b"/>
              <a:pathLst>
                <a:path w="8693531" h="5380863">
                  <a:moveTo>
                    <a:pt x="0" y="0"/>
                  </a:moveTo>
                  <a:lnTo>
                    <a:pt x="8693531" y="0"/>
                  </a:lnTo>
                  <a:lnTo>
                    <a:pt x="8693531" y="5380863"/>
                  </a:lnTo>
                  <a:lnTo>
                    <a:pt x="0" y="5380863"/>
                  </a:lnTo>
                  <a:lnTo>
                    <a:pt x="0" y="0"/>
                  </a:lnTo>
                  <a:close/>
                </a:path>
              </a:pathLst>
            </a:custGeom>
            <a:blipFill>
              <a:blip r:embed="rId4"/>
              <a:stretch>
                <a:fillRect l="-5004" r="-5031"/>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48916" y="0"/>
            <a:ext cx="3348619" cy="2974124"/>
          </a:xfrm>
          <a:custGeom>
            <a:avLst/>
            <a:gdLst/>
            <a:ahLst/>
            <a:cxnLst/>
            <a:rect l="l" t="t" r="r" b="b"/>
            <a:pathLst>
              <a:path w="3348619" h="2974124">
                <a:moveTo>
                  <a:pt x="0" y="0"/>
                </a:moveTo>
                <a:lnTo>
                  <a:pt x="3348619" y="0"/>
                </a:lnTo>
                <a:lnTo>
                  <a:pt x="3348619" y="2974124"/>
                </a:lnTo>
                <a:lnTo>
                  <a:pt x="0" y="29741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0" y="0"/>
            <a:ext cx="1141514" cy="10295039"/>
            <a:chOff x="0" y="0"/>
            <a:chExt cx="1522019" cy="13726719"/>
          </a:xfrm>
        </p:grpSpPr>
        <p:sp>
          <p:nvSpPr>
            <p:cNvPr id="4" name="Freeform 4"/>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5" name="Freeform 5"/>
          <p:cNvSpPr/>
          <p:nvPr/>
        </p:nvSpPr>
        <p:spPr>
          <a:xfrm>
            <a:off x="11779720" y="571948"/>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2849568" y="1601448"/>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5715000" y="303476"/>
            <a:ext cx="5257800" cy="627095"/>
          </a:xfrm>
          <a:prstGeom prst="rect">
            <a:avLst/>
          </a:prstGeom>
        </p:spPr>
        <p:txBody>
          <a:bodyPr wrap="square" lIns="0" tIns="0" rIns="0" bIns="0" rtlCol="0" anchor="t">
            <a:spAutoFit/>
          </a:bodyPr>
          <a:lstStyle/>
          <a:p>
            <a:pPr algn="l">
              <a:lnSpc>
                <a:spcPts val="4611"/>
              </a:lnSpc>
            </a:pPr>
            <a:r>
              <a:rPr lang="en-US" sz="4800" b="1" spc="86" dirty="0">
                <a:solidFill>
                  <a:srgbClr val="262626"/>
                </a:solidFill>
                <a:latin typeface="Baskerville Display PT Bold"/>
                <a:ea typeface="Baskerville Display PT Bold"/>
                <a:cs typeface="Baskerville Display PT Bold"/>
                <a:sym typeface="Baskerville Display PT Bold"/>
              </a:rPr>
              <a:t>     ABSTRACT </a:t>
            </a:r>
          </a:p>
        </p:txBody>
      </p:sp>
      <p:sp>
        <p:nvSpPr>
          <p:cNvPr id="8" name="TextBox 8"/>
          <p:cNvSpPr txBox="1"/>
          <p:nvPr/>
        </p:nvSpPr>
        <p:spPr>
          <a:xfrm>
            <a:off x="507425" y="1448962"/>
            <a:ext cx="16332775" cy="7863050"/>
          </a:xfrm>
          <a:prstGeom prst="rect">
            <a:avLst/>
          </a:prstGeom>
        </p:spPr>
        <p:txBody>
          <a:bodyPr wrap="square" lIns="0" tIns="0" rIns="0" bIns="0" rtlCol="0" anchor="t">
            <a:spAutoFit/>
          </a:bodyPr>
          <a:lstStyle/>
          <a:p>
            <a:pPr marL="669743" lvl="1" indent="-334871" algn="l">
              <a:lnSpc>
                <a:spcPts val="4094"/>
              </a:lnSpc>
              <a:buFont typeface="Arial"/>
              <a:buChar char="•"/>
            </a:pPr>
            <a:r>
              <a:rPr lang="en-US" sz="3102" spc="55" dirty="0">
                <a:solidFill>
                  <a:srgbClr val="262626"/>
                </a:solidFill>
                <a:latin typeface="Baskerville Display PT"/>
                <a:ea typeface="Baskerville Display PT"/>
                <a:cs typeface="Baskerville Display PT"/>
                <a:sym typeface="Baskerville Display PT"/>
              </a:rPr>
              <a:t>🎯 </a:t>
            </a:r>
            <a:r>
              <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rPr>
              <a:t>Develop a Virtual Quiz Portal for conducting secure online examinations.</a:t>
            </a:r>
          </a:p>
          <a:p>
            <a:pPr marL="334872" lvl="1" algn="l">
              <a:lnSpc>
                <a:spcPts val="4094"/>
              </a:lnSpc>
            </a:pPr>
            <a:endPar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endParaRPr>
          </a:p>
          <a:p>
            <a:pPr marL="669743" lvl="1" indent="-334871" algn="l">
              <a:lnSpc>
                <a:spcPts val="4094"/>
              </a:lnSpc>
              <a:buFont typeface="Arial"/>
              <a:buChar char="•"/>
            </a:pPr>
            <a:r>
              <a:rPr lang="en-US" sz="2800" spc="55"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Design a Server–Client Network to enable smooth communication between users and the server.</a:t>
            </a:r>
          </a:p>
          <a:p>
            <a:pPr marL="334872" lvl="1" algn="l">
              <a:lnSpc>
                <a:spcPts val="4094"/>
              </a:lnSpc>
            </a:pPr>
            <a:endParaRPr lang="en-US" sz="2800" spc="55"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marL="669743" lvl="1" indent="-334871" algn="l">
              <a:lnSpc>
                <a:spcPts val="4094"/>
              </a:lnSpc>
              <a:buFont typeface="Arial"/>
              <a:buChar char="•"/>
            </a:pPr>
            <a:r>
              <a:rPr lang="en-US" sz="2800" spc="55"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Implement a Concurrent Submission Server in Python to handle multiple student submissions simultaneously.</a:t>
            </a:r>
          </a:p>
          <a:p>
            <a:pPr marL="334872" lvl="1" algn="l">
              <a:lnSpc>
                <a:spcPts val="4094"/>
              </a:lnSpc>
            </a:pPr>
            <a:endParaRPr lang="en-US" sz="2800" spc="55"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marL="669743" lvl="1" indent="-334871" algn="l">
              <a:lnSpc>
                <a:spcPts val="4094"/>
              </a:lnSpc>
              <a:buFont typeface="Arial"/>
              <a:buChar char="•"/>
            </a:pPr>
            <a:r>
              <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rPr>
              <a:t>📊 Perform Load </a:t>
            </a:r>
            <a:r>
              <a:rPr lang="en-US" sz="2800" spc="55" dirty="0" err="1">
                <a:solidFill>
                  <a:srgbClr val="262626"/>
                </a:solidFill>
                <a:latin typeface="Baskerville Display PT" panose="020B0604020202020204" charset="0"/>
                <a:ea typeface="Baskerville Display PT" panose="020B0604020202020204" charset="0"/>
                <a:cs typeface="Baskerville Display PT"/>
                <a:sym typeface="Baskerville Display PT"/>
              </a:rPr>
              <a:t>Behaviour</a:t>
            </a:r>
            <a:r>
              <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rPr>
              <a:t> Analysis to evaluate system performance under heavy traffic.</a:t>
            </a:r>
          </a:p>
          <a:p>
            <a:pPr marL="334872" lvl="1" algn="l">
              <a:lnSpc>
                <a:spcPts val="4094"/>
              </a:lnSpc>
            </a:pPr>
            <a:endPar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endParaRPr>
          </a:p>
          <a:p>
            <a:pPr marL="669743" lvl="1" indent="-334871" algn="l">
              <a:lnSpc>
                <a:spcPts val="4094"/>
              </a:lnSpc>
              <a:buFont typeface="Arial"/>
              <a:buChar char="•"/>
            </a:pPr>
            <a:r>
              <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rPr>
              <a:t> 📈 Monitor key metrics such as response time, throughput, and error rate.</a:t>
            </a:r>
          </a:p>
          <a:p>
            <a:pPr marL="334872" lvl="1" algn="l">
              <a:lnSpc>
                <a:spcPts val="4094"/>
              </a:lnSpc>
            </a:pPr>
            <a:endPar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endParaRPr>
          </a:p>
          <a:p>
            <a:pPr marL="669743" lvl="1" indent="-334871" algn="l">
              <a:lnSpc>
                <a:spcPts val="4094"/>
              </a:lnSpc>
              <a:buFont typeface="Arial"/>
              <a:buChar char="•"/>
            </a:pPr>
            <a:r>
              <a:rPr lang="en-US" sz="2800" spc="55"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Ensure secure data storage, reliable quiz delivery, and automatic result generation.</a:t>
            </a:r>
          </a:p>
          <a:p>
            <a:pPr marL="334872" lvl="1" algn="l">
              <a:lnSpc>
                <a:spcPts val="4094"/>
              </a:lnSpc>
            </a:pPr>
            <a:endParaRPr lang="en-US" sz="2800" spc="55"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marL="669743" lvl="1" indent="-334871" algn="l">
              <a:lnSpc>
                <a:spcPts val="4094"/>
              </a:lnSpc>
              <a:buFont typeface="Arial"/>
              <a:buChar char="•"/>
            </a:pPr>
            <a:r>
              <a:rPr lang="en-US" sz="2800" spc="55" dirty="0">
                <a:solidFill>
                  <a:srgbClr val="262626"/>
                </a:solidFill>
                <a:latin typeface="Baskerville Display PT" panose="020B0604020202020204" charset="0"/>
                <a:ea typeface="Baskerville Display PT" panose="020B0604020202020204" charset="0"/>
                <a:cs typeface="Baskerville Display PT"/>
                <a:sym typeface="Baskerville Display PT"/>
              </a:rPr>
              <a:t> 🚀 Build a scalable and efficient platform that provides a seamless online examination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063877" y="1258291"/>
            <a:ext cx="7549696" cy="7549696"/>
          </a:xfrm>
          <a:custGeom>
            <a:avLst/>
            <a:gdLst/>
            <a:ahLst/>
            <a:cxnLst/>
            <a:rect l="l" t="t" r="r" b="b"/>
            <a:pathLst>
              <a:path w="7549696" h="7549696">
                <a:moveTo>
                  <a:pt x="0" y="0"/>
                </a:moveTo>
                <a:lnTo>
                  <a:pt x="7549696" y="0"/>
                </a:lnTo>
                <a:lnTo>
                  <a:pt x="7549696" y="7549696"/>
                </a:lnTo>
                <a:lnTo>
                  <a:pt x="0" y="754969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0" y="0"/>
            <a:ext cx="1141514" cy="10295039"/>
            <a:chOff x="0" y="0"/>
            <a:chExt cx="1522019" cy="13726719"/>
          </a:xfrm>
        </p:grpSpPr>
        <p:sp>
          <p:nvSpPr>
            <p:cNvPr id="4" name="Freeform 4"/>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grpSp>
        <p:nvGrpSpPr>
          <p:cNvPr id="5" name="Group 5"/>
          <p:cNvGrpSpPr/>
          <p:nvPr/>
        </p:nvGrpSpPr>
        <p:grpSpPr>
          <a:xfrm>
            <a:off x="6374821" y="0"/>
            <a:ext cx="7378113" cy="1421902"/>
            <a:chOff x="0" y="0"/>
            <a:chExt cx="9837484" cy="1895869"/>
          </a:xfrm>
        </p:grpSpPr>
        <p:sp>
          <p:nvSpPr>
            <p:cNvPr id="6" name="Freeform 6"/>
            <p:cNvSpPr/>
            <p:nvPr/>
          </p:nvSpPr>
          <p:spPr>
            <a:xfrm>
              <a:off x="0" y="0"/>
              <a:ext cx="9837486" cy="1895865"/>
            </a:xfrm>
            <a:custGeom>
              <a:avLst/>
              <a:gdLst/>
              <a:ahLst/>
              <a:cxnLst/>
              <a:rect l="l" t="t" r="r" b="b"/>
              <a:pathLst>
                <a:path w="9837486" h="1895865">
                  <a:moveTo>
                    <a:pt x="0" y="0"/>
                  </a:moveTo>
                  <a:lnTo>
                    <a:pt x="9837486" y="0"/>
                  </a:lnTo>
                  <a:lnTo>
                    <a:pt x="9837486" y="1895865"/>
                  </a:lnTo>
                  <a:lnTo>
                    <a:pt x="0" y="1895865"/>
                  </a:lnTo>
                  <a:close/>
                </a:path>
              </a:pathLst>
            </a:custGeom>
            <a:blipFill>
              <a:blip r:embed="rId3">
                <a:alphaModFix amt="0"/>
              </a:blip>
              <a:stretch>
                <a:fillRect t="-51106" b="-51106"/>
              </a:stretch>
            </a:blipFill>
          </p:spPr>
          <p:txBody>
            <a:bodyPr/>
            <a:lstStyle/>
            <a:p>
              <a:endParaRPr lang="en-IN"/>
            </a:p>
          </p:txBody>
        </p:sp>
        <p:sp>
          <p:nvSpPr>
            <p:cNvPr id="7" name="TextBox 7"/>
            <p:cNvSpPr txBox="1"/>
            <p:nvPr/>
          </p:nvSpPr>
          <p:spPr>
            <a:xfrm>
              <a:off x="0" y="95250"/>
              <a:ext cx="9837484" cy="1800619"/>
            </a:xfrm>
            <a:prstGeom prst="rect">
              <a:avLst/>
            </a:prstGeom>
          </p:spPr>
          <p:txBody>
            <a:bodyPr lIns="0" tIns="0" rIns="0" bIns="0" rtlCol="0" anchor="ctr"/>
            <a:lstStyle/>
            <a:p>
              <a:pPr algn="l">
                <a:lnSpc>
                  <a:spcPts val="4611"/>
                </a:lnSpc>
              </a:pPr>
              <a:r>
                <a:rPr lang="en-US" sz="4803" b="1" spc="86" dirty="0">
                  <a:solidFill>
                    <a:srgbClr val="262626"/>
                  </a:solidFill>
                  <a:latin typeface="Baskerville Display PT Bold"/>
                  <a:ea typeface="Baskerville Display PT Bold"/>
                  <a:cs typeface="Baskerville Display PT Bold"/>
                  <a:sym typeface="Baskerville Display PT Bold"/>
                </a:rPr>
                <a:t>INTRODUCTION</a:t>
              </a:r>
            </a:p>
          </p:txBody>
        </p:sp>
      </p:grpSp>
      <p:grpSp>
        <p:nvGrpSpPr>
          <p:cNvPr id="8" name="Group 8"/>
          <p:cNvGrpSpPr/>
          <p:nvPr/>
        </p:nvGrpSpPr>
        <p:grpSpPr>
          <a:xfrm>
            <a:off x="336214" y="1171689"/>
            <a:ext cx="16503986" cy="9115311"/>
            <a:chOff x="0" y="-28575"/>
            <a:chExt cx="23780882" cy="13134412"/>
          </a:xfrm>
        </p:grpSpPr>
        <p:sp>
          <p:nvSpPr>
            <p:cNvPr id="9" name="Freeform 9"/>
            <p:cNvSpPr/>
            <p:nvPr/>
          </p:nvSpPr>
          <p:spPr>
            <a:xfrm>
              <a:off x="0" y="0"/>
              <a:ext cx="13022538" cy="13105836"/>
            </a:xfrm>
            <a:custGeom>
              <a:avLst/>
              <a:gdLst/>
              <a:ahLst/>
              <a:cxnLst/>
              <a:rect l="l" t="t" r="r" b="b"/>
              <a:pathLst>
                <a:path w="13022538" h="13105836">
                  <a:moveTo>
                    <a:pt x="0" y="0"/>
                  </a:moveTo>
                  <a:lnTo>
                    <a:pt x="13022538" y="0"/>
                  </a:lnTo>
                  <a:lnTo>
                    <a:pt x="13022538" y="13105836"/>
                  </a:lnTo>
                  <a:lnTo>
                    <a:pt x="0" y="13105836"/>
                  </a:lnTo>
                  <a:close/>
                </a:path>
              </a:pathLst>
            </a:custGeom>
            <a:blipFill>
              <a:blip r:embed="rId3">
                <a:alphaModFix amt="0"/>
              </a:blip>
              <a:stretch>
                <a:fillRect l="-45722" r="-36476" b="29448"/>
              </a:stretch>
            </a:blipFill>
          </p:spPr>
          <p:txBody>
            <a:bodyPr/>
            <a:lstStyle/>
            <a:p>
              <a:endParaRPr lang="en-IN"/>
            </a:p>
          </p:txBody>
        </p:sp>
        <p:sp>
          <p:nvSpPr>
            <p:cNvPr id="10" name="TextBox 10"/>
            <p:cNvSpPr txBox="1"/>
            <p:nvPr/>
          </p:nvSpPr>
          <p:spPr>
            <a:xfrm>
              <a:off x="0" y="-28575"/>
              <a:ext cx="23780882" cy="13134412"/>
            </a:xfrm>
            <a:prstGeom prst="rect">
              <a:avLst/>
            </a:prstGeom>
          </p:spPr>
          <p:txBody>
            <a:bodyPr lIns="0" tIns="0" rIns="0" bIns="0" rtlCol="0" anchor="ctr"/>
            <a:lstStyle/>
            <a:p>
              <a:pPr marL="604923" lvl="1" indent="-302461" algn="l">
                <a:lnSpc>
                  <a:spcPts val="3698"/>
                </a:lnSpc>
                <a:buFont typeface="Arial"/>
                <a:buChar char="•"/>
              </a:pPr>
              <a:r>
                <a:rPr lang="en-US" sz="2801" dirty="0">
                  <a:solidFill>
                    <a:srgbClr val="262626"/>
                  </a:solidFill>
                  <a:latin typeface="Century Gothic Paneuropean"/>
                  <a:ea typeface="Century Gothic Paneuropean"/>
                  <a:cs typeface="Century Gothic Paneuropean"/>
                  <a:sym typeface="Century Gothic Paneuropean"/>
                </a:rPr>
                <a:t>🌐 </a:t>
              </a:r>
              <a:r>
                <a:rPr lang="en-US" sz="2801"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Online examinations have become an essential part of modern education and training.</a:t>
              </a:r>
            </a:p>
            <a:p>
              <a:pPr marL="302462" lvl="1" algn="l">
                <a:lnSpc>
                  <a:spcPts val="3698"/>
                </a:lnSpc>
              </a:pPr>
              <a:endParaRPr lang="en-US" sz="2801"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marL="604923" lvl="1" indent="-302461" algn="l">
                <a:lnSpc>
                  <a:spcPts val="3698"/>
                </a:lnSpc>
                <a:buFont typeface="Arial"/>
                <a:buChar char="•"/>
              </a:pPr>
              <a:r>
                <a:rPr lang="en-US" sz="2801"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Traditional quiz systems often struggle with heavy user traffic, causing delays and server issues.</a:t>
              </a:r>
            </a:p>
            <a:p>
              <a:pPr marL="302462" lvl="1" algn="l">
                <a:lnSpc>
                  <a:spcPts val="3698"/>
                </a:lnSpc>
              </a:pPr>
              <a:endParaRPr lang="en-US" sz="2801"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marL="604923" lvl="1" indent="-302461" algn="l">
                <a:lnSpc>
                  <a:spcPts val="3698"/>
                </a:lnSpc>
                <a:buFont typeface="Arial"/>
                <a:buChar char="•"/>
              </a:pPr>
              <a:r>
                <a:rPr lang="en-US" sz="2801"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The Virtual Quiz Portal provides a secure platform for conducting online quizzes and instant evaluation.</a:t>
              </a:r>
            </a:p>
            <a:p>
              <a:pPr marL="302462" lvl="1" algn="l">
                <a:lnSpc>
                  <a:spcPts val="3698"/>
                </a:lnSpc>
              </a:pPr>
              <a:endParaRPr lang="en-US" sz="2801"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marL="604923" lvl="1" indent="-302461" algn="l">
                <a:lnSpc>
                  <a:spcPts val="3698"/>
                </a:lnSpc>
                <a:buFont typeface="Arial"/>
                <a:buChar char="•"/>
              </a:pPr>
              <a:r>
                <a:rPr lang="en-US" sz="2801" spc="50" dirty="0">
                  <a:solidFill>
                    <a:srgbClr val="262626"/>
                  </a:solidFill>
                  <a:latin typeface="Baskerville Display PT" panose="020B0604020202020204" charset="0"/>
                  <a:ea typeface="Baskerville Display PT" panose="020B0604020202020204" charset="0"/>
                  <a:cs typeface="Baskerville Display PT"/>
                  <a:sym typeface="Baskerville Display PT"/>
                </a:rPr>
                <a:t> ⚡ A Concurrent Submission Server ensures that multiple students can submit their quizzes simultaneously without data loss.</a:t>
              </a:r>
            </a:p>
            <a:p>
              <a:pPr marL="302462" lvl="1" algn="l">
                <a:lnSpc>
                  <a:spcPts val="3698"/>
                </a:lnSpc>
              </a:pPr>
              <a:endParaRPr lang="en-US" sz="2801" spc="50" dirty="0">
                <a:solidFill>
                  <a:srgbClr val="262626"/>
                </a:solidFill>
                <a:latin typeface="Baskerville Display PT" panose="020B0604020202020204" charset="0"/>
                <a:ea typeface="Baskerville Display PT" panose="020B0604020202020204" charset="0"/>
                <a:cs typeface="Baskerville Display PT"/>
                <a:sym typeface="Baskerville Display PT"/>
              </a:endParaRPr>
            </a:p>
            <a:p>
              <a:pPr marL="604923" lvl="1" indent="-302461" algn="l">
                <a:lnSpc>
                  <a:spcPts val="3698"/>
                </a:lnSpc>
                <a:buFont typeface="Arial"/>
                <a:buChar char="•"/>
              </a:pPr>
              <a:r>
                <a:rPr lang="en-US" sz="2801" spc="50" dirty="0">
                  <a:solidFill>
                    <a:srgbClr val="262626"/>
                  </a:solidFill>
                  <a:latin typeface="Baskerville Display PT" panose="020B0604020202020204" charset="0"/>
                  <a:ea typeface="Baskerville Display PT" panose="020B0604020202020204" charset="0"/>
                  <a:cs typeface="Baskerville Display PT"/>
                  <a:sym typeface="Baskerville Display PT"/>
                </a:rPr>
                <a:t> 📊 The Load </a:t>
              </a:r>
              <a:r>
                <a:rPr lang="en-US" sz="2801" spc="50" dirty="0" err="1">
                  <a:solidFill>
                    <a:srgbClr val="262626"/>
                  </a:solidFill>
                  <a:latin typeface="Baskerville Display PT" panose="020B0604020202020204" charset="0"/>
                  <a:ea typeface="Baskerville Display PT" panose="020B0604020202020204" charset="0"/>
                  <a:cs typeface="Baskerville Display PT"/>
                  <a:sym typeface="Baskerville Display PT"/>
                </a:rPr>
                <a:t>Behaviour</a:t>
              </a:r>
              <a:r>
                <a:rPr lang="en-US" sz="2801" spc="50" dirty="0">
                  <a:solidFill>
                    <a:srgbClr val="262626"/>
                  </a:solidFill>
                  <a:latin typeface="Baskerville Display PT" panose="020B0604020202020204" charset="0"/>
                  <a:ea typeface="Baskerville Display PT" panose="020B0604020202020204" charset="0"/>
                  <a:cs typeface="Baskerville Display PT"/>
                  <a:sym typeface="Baskerville Display PT"/>
                </a:rPr>
                <a:t> Analysis module evaluates system performance by measuring response time, throughput, and error rates under different workloads.</a:t>
              </a:r>
            </a:p>
            <a:p>
              <a:pPr marL="302462" lvl="1" algn="l">
                <a:lnSpc>
                  <a:spcPts val="3698"/>
                </a:lnSpc>
              </a:pPr>
              <a:endParaRPr lang="en-US" sz="2801" spc="50" dirty="0">
                <a:solidFill>
                  <a:srgbClr val="262626"/>
                </a:solidFill>
                <a:latin typeface="Baskerville Display PT" panose="020B0604020202020204" charset="0"/>
                <a:ea typeface="Baskerville Display PT" panose="020B0604020202020204" charset="0"/>
                <a:cs typeface="Baskerville Display PT"/>
                <a:sym typeface="Baskerville Display PT"/>
              </a:endParaRPr>
            </a:p>
            <a:p>
              <a:pPr marL="604923" lvl="1" indent="-302461" algn="l">
                <a:lnSpc>
                  <a:spcPts val="3698"/>
                </a:lnSpc>
                <a:buFont typeface="Arial"/>
                <a:buChar char="•"/>
              </a:pPr>
              <a:r>
                <a:rPr lang="en-US" sz="2801" spc="50"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The project aims to build a reliable, scalable, and efficient quiz platform that delivers a smooth experience for both students and administrators..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141514" cy="10295039"/>
            <a:chOff x="0" y="0"/>
            <a:chExt cx="1522019" cy="13726719"/>
          </a:xfrm>
        </p:grpSpPr>
        <p:sp>
          <p:nvSpPr>
            <p:cNvPr id="3" name="Freeform 3"/>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4" name="Freeform 4"/>
          <p:cNvSpPr/>
          <p:nvPr/>
        </p:nvSpPr>
        <p:spPr>
          <a:xfrm>
            <a:off x="12237282" y="8512473"/>
            <a:ext cx="1029500" cy="1029500"/>
          </a:xfrm>
          <a:custGeom>
            <a:avLst/>
            <a:gdLst/>
            <a:ahLst/>
            <a:cxnLst/>
            <a:rect l="l" t="t" r="r" b="b"/>
            <a:pathLst>
              <a:path w="1029500" h="1029500">
                <a:moveTo>
                  <a:pt x="0" y="0"/>
                </a:moveTo>
                <a:lnTo>
                  <a:pt x="1029500" y="0"/>
                </a:lnTo>
                <a:lnTo>
                  <a:pt x="1029500" y="1029501"/>
                </a:lnTo>
                <a:lnTo>
                  <a:pt x="0" y="102950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Freeform 5"/>
          <p:cNvSpPr/>
          <p:nvPr/>
        </p:nvSpPr>
        <p:spPr>
          <a:xfrm>
            <a:off x="11036189" y="6634582"/>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6" name="Freeform 6"/>
          <p:cNvSpPr/>
          <p:nvPr/>
        </p:nvSpPr>
        <p:spPr>
          <a:xfrm>
            <a:off x="12914081" y="285003"/>
            <a:ext cx="5373919" cy="10361095"/>
          </a:xfrm>
          <a:custGeom>
            <a:avLst/>
            <a:gdLst/>
            <a:ahLst/>
            <a:cxnLst/>
            <a:rect l="l" t="t" r="r" b="b"/>
            <a:pathLst>
              <a:path w="5373919" h="10361095">
                <a:moveTo>
                  <a:pt x="0" y="0"/>
                </a:moveTo>
                <a:lnTo>
                  <a:pt x="5373920" y="0"/>
                </a:lnTo>
                <a:lnTo>
                  <a:pt x="5373920" y="10361095"/>
                </a:lnTo>
                <a:lnTo>
                  <a:pt x="0" y="1036109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1371600" y="495299"/>
            <a:ext cx="14094733" cy="1108830"/>
          </a:xfrm>
          <a:prstGeom prst="rect">
            <a:avLst/>
          </a:prstGeom>
        </p:spPr>
        <p:txBody>
          <a:bodyPr wrap="square" lIns="0" tIns="0" rIns="0" bIns="0" rtlCol="0" anchor="t">
            <a:spAutoFit/>
          </a:bodyPr>
          <a:lstStyle/>
          <a:p>
            <a:pPr algn="l">
              <a:lnSpc>
                <a:spcPts val="4150"/>
              </a:lnSpc>
            </a:pPr>
            <a:r>
              <a:rPr lang="en-US" sz="4800" b="1" spc="77" dirty="0">
                <a:solidFill>
                  <a:srgbClr val="262626"/>
                </a:solidFill>
                <a:latin typeface="Baskerville Display PT Bold"/>
                <a:ea typeface="Baskerville Display PT Bold"/>
                <a:cs typeface="Baskerville Display PT Bold"/>
                <a:sym typeface="Baskerville Display PT Bold"/>
              </a:rPr>
              <a:t>      PROBLEM IDENTIFICATION AND ANALYSIS</a:t>
            </a:r>
          </a:p>
          <a:p>
            <a:pPr algn="l">
              <a:lnSpc>
                <a:spcPts val="4150"/>
              </a:lnSpc>
            </a:pPr>
            <a:endParaRPr lang="en-US" sz="4323" b="1" spc="77" dirty="0">
              <a:solidFill>
                <a:srgbClr val="262626"/>
              </a:solidFill>
              <a:latin typeface="Baskerville Display PT Bold"/>
              <a:ea typeface="Baskerville Display PT Bold"/>
              <a:cs typeface="Baskerville Display PT Bold"/>
              <a:sym typeface="Baskerville Display PT Bold"/>
            </a:endParaRPr>
          </a:p>
        </p:txBody>
      </p:sp>
      <p:sp>
        <p:nvSpPr>
          <p:cNvPr id="8" name="TextBox 8"/>
          <p:cNvSpPr txBox="1"/>
          <p:nvPr/>
        </p:nvSpPr>
        <p:spPr>
          <a:xfrm>
            <a:off x="533400" y="1685050"/>
            <a:ext cx="15849599" cy="7990072"/>
          </a:xfrm>
          <a:prstGeom prst="rect">
            <a:avLst/>
          </a:prstGeom>
        </p:spPr>
        <p:txBody>
          <a:bodyPr wrap="square" lIns="0" tIns="0" rIns="0" bIns="0" rtlCol="0" anchor="t">
            <a:spAutoFit/>
          </a:bodyPr>
          <a:lstStyle/>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Many existing online quiz systems experience performance issues when a large number of users attempt quizzes simultaneously. Common problems include slow page loading, delayed result generation, server crashes, and poor user experience. These issues can negatively impact students during important examinations.</a:t>
            </a:r>
          </a:p>
          <a:p>
            <a:pPr marL="633568" lvl="1" indent="-316784" algn="l">
              <a:lnSpc>
                <a:spcPts val="3873"/>
              </a:lnSpc>
              <a:buFont typeface="Arial"/>
              <a:buChar char="•"/>
            </a:pPr>
            <a:endParaRPr lang="en-US" sz="2934" spc="52" dirty="0">
              <a:solidFill>
                <a:srgbClr val="262626"/>
              </a:solidFill>
              <a:latin typeface="Baskerville Display PT"/>
              <a:ea typeface="Baskerville Display PT"/>
              <a:cs typeface="Baskerville Display PT"/>
              <a:sym typeface="Baskerville Display PT"/>
            </a:endParaRPr>
          </a:p>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Another challenge is the lack of detailed analytics that provide insights into user performance and system health. Without proper monitoring, administrators cannot easily identify weak areas or optimize the platform.  </a:t>
            </a:r>
          </a:p>
          <a:p>
            <a:pPr marL="633568" lvl="1" indent="-316784" algn="l">
              <a:lnSpc>
                <a:spcPts val="3873"/>
              </a:lnSpc>
              <a:buFont typeface="Arial"/>
              <a:buChar char="•"/>
            </a:pPr>
            <a:endParaRPr lang="en-US" sz="2934" spc="52" dirty="0">
              <a:solidFill>
                <a:srgbClr val="262626"/>
              </a:solidFill>
              <a:latin typeface="Baskerville Display PT"/>
              <a:ea typeface="Baskerville Display PT"/>
              <a:cs typeface="Baskerville Display PT"/>
              <a:sym typeface="Baskerville Display PT"/>
            </a:endParaRPr>
          </a:p>
          <a:p>
            <a:pPr marL="316784" lvl="1" algn="l">
              <a:lnSpc>
                <a:spcPts val="3873"/>
              </a:lnSpc>
            </a:pPr>
            <a:r>
              <a:rPr lang="en-US" sz="2934" b="1" spc="52" dirty="0">
                <a:solidFill>
                  <a:srgbClr val="262626"/>
                </a:solidFill>
                <a:latin typeface="Baskerville Display PT Bold"/>
                <a:ea typeface="Baskerville Display PT Bold"/>
                <a:cs typeface="Baskerville Display PT Bold"/>
                <a:sym typeface="Baskerville Display PT Bold"/>
              </a:rPr>
              <a:t>The key problems identified are:</a:t>
            </a:r>
          </a:p>
          <a:p>
            <a:pPr marL="633568" lvl="1" indent="-316784" algn="l">
              <a:lnSpc>
                <a:spcPts val="3873"/>
              </a:lnSpc>
              <a:buFont typeface="Arial"/>
              <a:buChar char="•"/>
            </a:pPr>
            <a:endParaRPr lang="en-US" sz="2934" b="1" spc="52" dirty="0">
              <a:solidFill>
                <a:srgbClr val="262626"/>
              </a:solidFill>
              <a:latin typeface="Baskerville Display PT Bold"/>
              <a:ea typeface="Baskerville Display PT Bold"/>
              <a:cs typeface="Baskerville Display PT Bold"/>
              <a:sym typeface="Baskerville Display PT Bold"/>
            </a:endParaRPr>
          </a:p>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Poor performance during high user traffic.</a:t>
            </a:r>
          </a:p>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Increased response time and server overload.</a:t>
            </a:r>
          </a:p>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Limited monitoring of system performance.</a:t>
            </a:r>
          </a:p>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 Lack of detailed quiz analytics and reporting.</a:t>
            </a:r>
          </a:p>
          <a:p>
            <a:pPr marL="633568" lvl="1" indent="-316784" algn="l">
              <a:lnSpc>
                <a:spcPts val="3873"/>
              </a:lnSpc>
              <a:buFont typeface="Arial"/>
              <a:buChar char="•"/>
            </a:pPr>
            <a:r>
              <a:rPr lang="en-US" sz="2934" spc="52" dirty="0">
                <a:solidFill>
                  <a:srgbClr val="262626"/>
                </a:solidFill>
                <a:latin typeface="Baskerville Display PT"/>
                <a:ea typeface="Baskerville Display PT"/>
                <a:cs typeface="Baskerville Display PT"/>
                <a:sym typeface="Baskerville Display PT"/>
              </a:rPr>
              <a:t>Difficulty in identifying performance bottlenecks before deployment.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BF295E-03FA-37FA-7F42-58A982B0F4DB}"/>
              </a:ext>
            </a:extLst>
          </p:cNvPr>
          <p:cNvSpPr txBox="1"/>
          <p:nvPr/>
        </p:nvSpPr>
        <p:spPr>
          <a:xfrm>
            <a:off x="2743200" y="114301"/>
            <a:ext cx="14432978" cy="830997"/>
          </a:xfrm>
          <a:prstGeom prst="rect">
            <a:avLst/>
          </a:prstGeom>
          <a:noFill/>
        </p:spPr>
        <p:txBody>
          <a:bodyPr wrap="square" rtlCol="0">
            <a:spAutoFit/>
          </a:bodyPr>
          <a:lstStyle/>
          <a:p>
            <a:r>
              <a:rPr lang="en-US" sz="4800" b="1" dirty="0">
                <a:latin typeface="Baskerville Display PT" panose="020B0604020202020204" charset="0"/>
                <a:ea typeface="Baskerville Display PT" panose="020B0604020202020204" charset="0"/>
              </a:rPr>
              <a:t>SOLUTION DESIGN AND IMPLEMENTATION</a:t>
            </a:r>
            <a:endParaRPr lang="en-IN" sz="4800" b="1" dirty="0">
              <a:latin typeface="Baskerville Display PT" panose="020B0604020202020204" charset="0"/>
              <a:ea typeface="Baskerville Display PT" panose="020B0604020202020204" charset="0"/>
            </a:endParaRPr>
          </a:p>
        </p:txBody>
      </p:sp>
      <p:sp>
        <p:nvSpPr>
          <p:cNvPr id="5" name="TextBox 4">
            <a:extLst>
              <a:ext uri="{FF2B5EF4-FFF2-40B4-BE49-F238E27FC236}">
                <a16:creationId xmlns:a16="http://schemas.microsoft.com/office/drawing/2014/main" id="{82CD45D9-2B21-A67A-9F1B-84DE5F6CF7F1}"/>
              </a:ext>
            </a:extLst>
          </p:cNvPr>
          <p:cNvSpPr txBox="1"/>
          <p:nvPr/>
        </p:nvSpPr>
        <p:spPr>
          <a:xfrm>
            <a:off x="0" y="1181100"/>
            <a:ext cx="18821400" cy="8710077"/>
          </a:xfrm>
          <a:prstGeom prst="rect">
            <a:avLst/>
          </a:prstGeom>
          <a:noFill/>
        </p:spPr>
        <p:txBody>
          <a:bodyPr wrap="square" rtlCol="0">
            <a:spAutoFit/>
          </a:bodyPr>
          <a:lstStyle/>
          <a:p>
            <a:r>
              <a:rPr lang="en-US" sz="2800" b="1" dirty="0">
                <a:latin typeface="Baskerville Display PT" panose="020B0604020202020204" charset="0"/>
                <a:ea typeface="Baskerville Display PT" panose="020B0604020202020204" charset="0"/>
              </a:rPr>
              <a:t>Module 1 – Exam Server–Client</a:t>
            </a:r>
          </a:p>
          <a:p>
            <a:pPr marL="457200" indent="-457200">
              <a:buFont typeface="Wingdings" panose="05000000000000000000" pitchFamily="2" charset="2"/>
              <a:buChar char="§"/>
            </a:pPr>
            <a:r>
              <a:rPr lang="en-US" sz="2800" dirty="0">
                <a:latin typeface="Baskerville Display PT" panose="020B0604020202020204" charset="0"/>
                <a:ea typeface="Baskerville Display PT" panose="020B0604020202020204" charset="0"/>
              </a:rPr>
              <a:t>Develops a client-server based exam system</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The server manages quiz questions, submissions, and results.</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Multiple clients (students) can connect to the exam server.</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Provides communication between students and the server.</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Ensures quiz data is handled efficiently.</a:t>
            </a:r>
          </a:p>
          <a:p>
            <a:endParaRPr lang="en-US" sz="2800" dirty="0">
              <a:latin typeface="Baskerville Display PT" panose="020B0604020202020204" charset="0"/>
              <a:ea typeface="Baskerville Display PT" panose="020B0604020202020204" charset="0"/>
            </a:endParaRPr>
          </a:p>
          <a:p>
            <a:r>
              <a:rPr lang="en-US" sz="2800" b="1" dirty="0">
                <a:latin typeface="Baskerville Display PT" panose="020B0604020202020204" charset="0"/>
                <a:ea typeface="Baskerville Display PT" panose="020B0604020202020204" charset="0"/>
              </a:rPr>
              <a:t>Module 2 – Concurrent Submission Server in Python</a:t>
            </a:r>
          </a:p>
          <a:p>
            <a:pPr marL="457200" indent="-457200">
              <a:buFont typeface="Wingdings" panose="05000000000000000000" pitchFamily="2" charset="2"/>
              <a:buChar char="§"/>
            </a:pPr>
            <a:r>
              <a:rPr lang="en-US" sz="2800" dirty="0">
                <a:latin typeface="Baskerville Display PT" panose="020B0604020202020204" charset="0"/>
                <a:ea typeface="Baskerville Display PT" panose="020B0604020202020204" charset="0"/>
              </a:rPr>
              <a:t>Developed using Python to handle multiple submissions simultaneously.</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Uses concurrent processing to manage requests from many students.</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Receives and stores answers submitted by different clients.</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Measures response time and submission success rate.</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Helps test the server under high concurrent traffic.</a:t>
            </a:r>
          </a:p>
          <a:p>
            <a:endParaRPr lang="en-US" sz="2800" dirty="0">
              <a:latin typeface="Baskerville Display PT" panose="020B0604020202020204" charset="0"/>
              <a:ea typeface="Baskerville Display PT" panose="020B0604020202020204" charset="0"/>
            </a:endParaRPr>
          </a:p>
          <a:p>
            <a:r>
              <a:rPr lang="en-US" sz="2800" b="1" dirty="0">
                <a:latin typeface="Baskerville Display PT" panose="020B0604020202020204" charset="0"/>
                <a:ea typeface="Baskerville Display PT" panose="020B0604020202020204" charset="0"/>
              </a:rPr>
              <a:t>Module 3 – Load Behavior Analysis</a:t>
            </a:r>
          </a:p>
          <a:p>
            <a:pPr marL="457200" indent="-457200">
              <a:buFont typeface="Wingdings" panose="05000000000000000000" pitchFamily="2" charset="2"/>
              <a:buChar char="§"/>
            </a:pPr>
            <a:r>
              <a:rPr lang="en-US" sz="2800" dirty="0">
                <a:latin typeface="Baskerville Display PT" panose="020B0604020202020204" charset="0"/>
                <a:ea typeface="Baskerville Display PT" panose="020B0604020202020204" charset="0"/>
              </a:rPr>
              <a:t>Analyzes system behavior under different user loads.</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Monitors response time, server load, throughput, and errors.</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Identifies performance bottlenecks.</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AI analyzes the collected load and performance data.</a:t>
            </a:r>
          </a:p>
          <a:p>
            <a:pPr marL="285750" indent="-285750">
              <a:buFont typeface="Wingdings" panose="05000000000000000000" pitchFamily="2" charset="2"/>
              <a:buChar char="§"/>
            </a:pPr>
            <a:r>
              <a:rPr lang="en-US" sz="2800" dirty="0">
                <a:latin typeface="Baskerville Display PT" panose="020B0604020202020204" charset="0"/>
                <a:ea typeface="Baskerville Display PT" panose="020B0604020202020204" charset="0"/>
              </a:rPr>
              <a:t>Provides suggestions for improving system performance.</a:t>
            </a:r>
            <a:endParaRPr lang="en-IN" sz="2800" dirty="0">
              <a:latin typeface="Baskerville Display PT" panose="020B0604020202020204" charset="0"/>
              <a:ea typeface="Baskerville Display PT" panose="020B0604020202020204" charset="0"/>
            </a:endParaRPr>
          </a:p>
        </p:txBody>
      </p:sp>
    </p:spTree>
    <p:extLst>
      <p:ext uri="{BB962C8B-B14F-4D97-AF65-F5344CB8AC3E}">
        <p14:creationId xmlns:p14="http://schemas.microsoft.com/office/powerpoint/2010/main" val="1276852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547309" y="0"/>
            <a:ext cx="6697237" cy="2974124"/>
          </a:xfrm>
          <a:custGeom>
            <a:avLst/>
            <a:gdLst/>
            <a:ahLst/>
            <a:cxnLst/>
            <a:rect l="l" t="t" r="r" b="b"/>
            <a:pathLst>
              <a:path w="6697237" h="2974124">
                <a:moveTo>
                  <a:pt x="0" y="0"/>
                </a:moveTo>
                <a:lnTo>
                  <a:pt x="6697237" y="0"/>
                </a:lnTo>
                <a:lnTo>
                  <a:pt x="6697237" y="2974124"/>
                </a:lnTo>
                <a:lnTo>
                  <a:pt x="0" y="29741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0" y="0"/>
            <a:ext cx="1141514" cy="10295039"/>
            <a:chOff x="0" y="0"/>
            <a:chExt cx="1522019" cy="13726719"/>
          </a:xfrm>
        </p:grpSpPr>
        <p:sp>
          <p:nvSpPr>
            <p:cNvPr id="4" name="Freeform 4"/>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5" name="TextBox 5"/>
          <p:cNvSpPr txBox="1"/>
          <p:nvPr/>
        </p:nvSpPr>
        <p:spPr>
          <a:xfrm>
            <a:off x="1132970" y="316059"/>
            <a:ext cx="15326230" cy="2986780"/>
          </a:xfrm>
          <a:prstGeom prst="rect">
            <a:avLst/>
          </a:prstGeom>
        </p:spPr>
        <p:txBody>
          <a:bodyPr wrap="square" lIns="0" tIns="0" rIns="0" bIns="0" rtlCol="0" anchor="t">
            <a:spAutoFit/>
          </a:bodyPr>
          <a:lstStyle/>
          <a:p>
            <a:pPr algn="l">
              <a:lnSpc>
                <a:spcPts val="4611"/>
              </a:lnSpc>
            </a:pPr>
            <a:r>
              <a:rPr lang="en-US" sz="4803" b="1" spc="86" dirty="0">
                <a:solidFill>
                  <a:srgbClr val="262626"/>
                </a:solidFill>
                <a:latin typeface="Baskerville Display PT Bold"/>
                <a:ea typeface="Baskerville Display PT Bold"/>
                <a:cs typeface="Baskerville Display PT Bold"/>
                <a:sym typeface="Baskerville Display PT Bold"/>
              </a:rPr>
              <a:t> MODULE 1- Exam Server-Client</a:t>
            </a:r>
          </a:p>
          <a:p>
            <a:pPr algn="l">
              <a:lnSpc>
                <a:spcPts val="4611"/>
              </a:lnSpc>
            </a:pPr>
            <a:r>
              <a:rPr lang="en-US" sz="4803" b="1" spc="86" dirty="0">
                <a:solidFill>
                  <a:srgbClr val="262626"/>
                </a:solidFill>
                <a:latin typeface="Century Gothic Paneuropean Bold"/>
                <a:ea typeface="Century Gothic Paneuropean Bold"/>
                <a:cs typeface="Century Gothic Paneuropean Bold"/>
                <a:sym typeface="Century Gothic Paneuropean Bold"/>
              </a:rPr>
              <a:t> </a:t>
            </a:r>
          </a:p>
          <a:p>
            <a:pPr>
              <a:lnSpc>
                <a:spcPts val="4611"/>
              </a:lnSpc>
            </a:pPr>
            <a:r>
              <a:rPr lang="en-US" sz="4803" b="1" spc="86" dirty="0">
                <a:solidFill>
                  <a:srgbClr val="262626"/>
                </a:solidFill>
                <a:latin typeface="Baskerville Display PT Bold"/>
                <a:ea typeface="Baskerville Display PT Bold"/>
                <a:cs typeface="Baskerville Display PT Bold"/>
                <a:sym typeface="Baskerville Display PT Bold"/>
              </a:rPr>
              <a:t> </a:t>
            </a:r>
          </a:p>
          <a:p>
            <a:pPr>
              <a:lnSpc>
                <a:spcPts val="4611"/>
              </a:lnSpc>
            </a:pPr>
            <a:r>
              <a:rPr lang="en-US" sz="4400" dirty="0">
                <a:latin typeface="Baskerville Display PT" panose="020B0604020202020204" charset="0"/>
                <a:ea typeface="Baskerville Display PT" panose="020B0604020202020204" charset="0"/>
              </a:rPr>
              <a:t>NETWORK DESIGN</a:t>
            </a:r>
            <a:endParaRPr lang="en-IN" sz="4400" dirty="0">
              <a:latin typeface="Baskerville Display PT" panose="020B0604020202020204" charset="0"/>
              <a:ea typeface="Baskerville Display PT" panose="020B0604020202020204" charset="0"/>
            </a:endParaRPr>
          </a:p>
          <a:p>
            <a:pPr algn="l">
              <a:lnSpc>
                <a:spcPts val="4611"/>
              </a:lnSpc>
            </a:pPr>
            <a:endParaRPr lang="en-US" sz="4803" b="1" spc="86" dirty="0">
              <a:solidFill>
                <a:srgbClr val="262626"/>
              </a:solidFill>
              <a:latin typeface="Baskerville Display PT Bold"/>
              <a:ea typeface="Baskerville Display PT Bold"/>
              <a:cs typeface="Baskerville Display PT Bold"/>
              <a:sym typeface="Baskerville Display PT Bold"/>
            </a:endParaRPr>
          </a:p>
        </p:txBody>
      </p:sp>
      <p:sp>
        <p:nvSpPr>
          <p:cNvPr id="6" name="TextBox 6"/>
          <p:cNvSpPr txBox="1"/>
          <p:nvPr/>
        </p:nvSpPr>
        <p:spPr>
          <a:xfrm>
            <a:off x="1132970" y="2637025"/>
            <a:ext cx="7096631" cy="3014351"/>
          </a:xfrm>
          <a:prstGeom prst="rect">
            <a:avLst/>
          </a:prstGeom>
        </p:spPr>
        <p:txBody>
          <a:bodyPr wrap="square" lIns="0" tIns="0" rIns="0" bIns="0" rtlCol="0" anchor="t">
            <a:spAutoFit/>
          </a:bodyPr>
          <a:lstStyle/>
          <a:p>
            <a:pPr marL="571500" indent="-571500" algn="l">
              <a:lnSpc>
                <a:spcPts val="3891"/>
              </a:lnSpc>
              <a:buFont typeface="Arial" panose="020B0604020202020204" pitchFamily="34" charset="0"/>
              <a:buChar char="•"/>
            </a:pPr>
            <a:r>
              <a:rPr lang="en-US" sz="3602" spc="64" dirty="0">
                <a:solidFill>
                  <a:srgbClr val="262626"/>
                </a:solidFill>
                <a:latin typeface="Baskerville Display PT"/>
                <a:ea typeface="Baskerville Display PT"/>
                <a:cs typeface="Baskerville Display PT"/>
                <a:sym typeface="Baskerville Display PT"/>
              </a:rPr>
              <a:t>The network consists of one central exam server connected to ten student computers through a network switch. All devices are placed on the same Local Area Network (LAN).</a:t>
            </a:r>
          </a:p>
        </p:txBody>
      </p:sp>
      <p:sp>
        <p:nvSpPr>
          <p:cNvPr id="7" name="TextBox 6">
            <a:extLst>
              <a:ext uri="{FF2B5EF4-FFF2-40B4-BE49-F238E27FC236}">
                <a16:creationId xmlns:a16="http://schemas.microsoft.com/office/drawing/2014/main" id="{C88B54A6-86DF-0A87-DAA8-8E93D6A32B31}"/>
              </a:ext>
            </a:extLst>
          </p:cNvPr>
          <p:cNvSpPr txBox="1"/>
          <p:nvPr/>
        </p:nvSpPr>
        <p:spPr>
          <a:xfrm>
            <a:off x="12039600" y="1028700"/>
            <a:ext cx="5867400" cy="7454605"/>
          </a:xfrm>
          <a:prstGeom prst="rect">
            <a:avLst/>
          </a:prstGeom>
          <a:noFill/>
        </p:spPr>
        <p:txBody>
          <a:bodyPr wrap="square" rtlCol="0">
            <a:spAutoFit/>
          </a:bodyPr>
          <a:lstStyle/>
          <a:p>
            <a:pPr algn="r">
              <a:lnSpc>
                <a:spcPts val="3891"/>
              </a:lnSpc>
            </a:pPr>
            <a:r>
              <a:rPr lang="en-US" sz="3200" spc="64" dirty="0">
                <a:solidFill>
                  <a:srgbClr val="262626"/>
                </a:solidFill>
                <a:latin typeface="Baskerville Display PT" panose="020B0604020202020204" charset="0"/>
                <a:ea typeface="Baskerville Display PT" panose="020B0604020202020204" charset="0"/>
                <a:cs typeface="Baskerville Display PT"/>
                <a:sym typeface="Baskerville Display PT"/>
              </a:rPr>
              <a:t>🏗️ </a:t>
            </a:r>
            <a:r>
              <a:rPr lang="en-US" sz="3200" b="1" spc="64" dirty="0">
                <a:solidFill>
                  <a:srgbClr val="262626"/>
                </a:solidFill>
                <a:latin typeface="Baskerville Display PT" panose="020B0604020202020204" charset="0"/>
                <a:ea typeface="Baskerville Display PT" panose="020B0604020202020204" charset="0"/>
                <a:cs typeface="Baskerville Display PT Bold"/>
                <a:sym typeface="Baskerville Display PT Bold"/>
              </a:rPr>
              <a:t>Architecture</a:t>
            </a:r>
          </a:p>
          <a:p>
            <a:pPr algn="r">
              <a:lnSpc>
                <a:spcPts val="2594"/>
              </a:lnSpc>
            </a:pPr>
            <a:endParaRPr lang="en-US" sz="3200" b="1" spc="64" dirty="0">
              <a:solidFill>
                <a:srgbClr val="262626"/>
              </a:solidFill>
              <a:latin typeface="Baskerville Display PT" panose="020B0604020202020204" charset="0"/>
              <a:ea typeface="Baskerville Display PT" panose="020B0604020202020204" charset="0"/>
              <a:cs typeface="Baskerville Display PT Bold"/>
              <a:sym typeface="Baskerville Display PT Bold"/>
            </a:endParaRP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Client–Server communication model</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Centralized Exam Server</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Secure Database Integration</a:t>
            </a:r>
          </a:p>
          <a:p>
            <a:pPr algn="r">
              <a:lnSpc>
                <a:spcPts val="2594"/>
              </a:lnSpc>
            </a:pPr>
            <a:endPar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algn="r">
              <a:lnSpc>
                <a:spcPts val="3242"/>
              </a:lnSpc>
            </a:pPr>
            <a:r>
              <a:rPr lang="en-US" sz="3200" spc="53" dirty="0">
                <a:solidFill>
                  <a:srgbClr val="262626"/>
                </a:solidFill>
                <a:latin typeface="Baskerville Display PT" panose="020B0604020202020204" charset="0"/>
                <a:ea typeface="Baskerville Display PT" panose="020B0604020202020204" charset="0"/>
                <a:cs typeface="Baskerville Display PT"/>
                <a:sym typeface="Baskerville Display PT"/>
              </a:rPr>
              <a:t>🔄 </a:t>
            </a:r>
            <a:r>
              <a:rPr lang="en-US" sz="3200" b="1" spc="53" dirty="0">
                <a:solidFill>
                  <a:srgbClr val="262626"/>
                </a:solidFill>
                <a:latin typeface="Baskerville Display PT" panose="020B0604020202020204" charset="0"/>
                <a:ea typeface="Baskerville Display PT" panose="020B0604020202020204" charset="0"/>
                <a:cs typeface="Baskerville Display PT Bold"/>
                <a:sym typeface="Baskerville Display PT Bold"/>
              </a:rPr>
              <a:t>Working</a:t>
            </a:r>
          </a:p>
          <a:p>
            <a:pPr algn="r">
              <a:lnSpc>
                <a:spcPts val="2594"/>
              </a:lnSpc>
            </a:pPr>
            <a:endParaRPr lang="en-US" sz="3200" b="1" spc="53" dirty="0">
              <a:solidFill>
                <a:srgbClr val="262626"/>
              </a:solidFill>
              <a:latin typeface="Baskerville Display PT" panose="020B0604020202020204" charset="0"/>
              <a:ea typeface="Baskerville Display PT" panose="020B0604020202020204" charset="0"/>
              <a:cs typeface="Baskerville Display PT Bold"/>
              <a:sym typeface="Baskerville Display PT Bold"/>
            </a:endParaRP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Student logs into the portal</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Server verifies credentials</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Quiz is delivered securely</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Responses are stored in the database</a:t>
            </a:r>
          </a:p>
          <a:p>
            <a:pPr algn="r">
              <a:lnSpc>
                <a:spcPts val="2594"/>
              </a:lnSpc>
            </a:pPr>
            <a:endPar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endParaRPr>
          </a:p>
          <a:p>
            <a:pPr algn="r">
              <a:lnSpc>
                <a:spcPts val="3242"/>
              </a:lnSpc>
            </a:pPr>
            <a:r>
              <a:rPr lang="en-US" sz="3200" spc="53" dirty="0">
                <a:solidFill>
                  <a:srgbClr val="262626"/>
                </a:solidFill>
                <a:latin typeface="Baskerville Display PT" panose="020B0604020202020204" charset="0"/>
                <a:ea typeface="Baskerville Display PT" panose="020B0604020202020204" charset="0"/>
                <a:cs typeface="Baskerville Display PT"/>
                <a:sym typeface="Baskerville Display PT"/>
              </a:rPr>
              <a:t>🎯 </a:t>
            </a:r>
            <a:r>
              <a:rPr lang="en-US" sz="3200" b="1" spc="53" dirty="0">
                <a:solidFill>
                  <a:srgbClr val="262626"/>
                </a:solidFill>
                <a:latin typeface="Baskerville Display PT" panose="020B0604020202020204" charset="0"/>
                <a:ea typeface="Baskerville Display PT" panose="020B0604020202020204" charset="0"/>
                <a:cs typeface="Baskerville Display PT Bold"/>
                <a:sym typeface="Baskerville Display PT Bold"/>
              </a:rPr>
              <a:t>Key Features</a:t>
            </a:r>
          </a:p>
          <a:p>
            <a:pPr algn="r">
              <a:lnSpc>
                <a:spcPts val="2594"/>
              </a:lnSpc>
            </a:pPr>
            <a:endParaRPr lang="en-US" sz="3200" b="1" spc="53" dirty="0">
              <a:solidFill>
                <a:srgbClr val="262626"/>
              </a:solidFill>
              <a:latin typeface="Baskerville Display PT" panose="020B0604020202020204" charset="0"/>
              <a:ea typeface="Baskerville Display PT" panose="020B0604020202020204" charset="0"/>
              <a:cs typeface="Baskerville Display PT Bold"/>
              <a:sym typeface="Baskerville Display PT Bold"/>
            </a:endParaRP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Secure communication</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 Fast data transfer</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Reliable network connectivity</a:t>
            </a:r>
          </a:p>
          <a:p>
            <a:pPr algn="r">
              <a:lnSpc>
                <a:spcPts val="2594"/>
              </a:lnSpc>
            </a:pPr>
            <a:r>
              <a:rPr lang="en-US" sz="3200" spc="43" dirty="0">
                <a:solidFill>
                  <a:srgbClr val="262626"/>
                </a:solidFill>
                <a:latin typeface="Baskerville Display PT" panose="020B0604020202020204" charset="0"/>
                <a:ea typeface="Baskerville Display PT" panose="020B0604020202020204" charset="0"/>
                <a:cs typeface="Century Gothic Paneuropean"/>
                <a:sym typeface="Century Gothic Paneuropean"/>
              </a:rPr>
              <a:t>Centralized data management</a:t>
            </a:r>
            <a:endParaRPr lang="en-IN" sz="3200" dirty="0">
              <a:latin typeface="Baskerville Display PT" panose="020B0604020202020204" charset="0"/>
              <a:ea typeface="Baskerville Display PT" panose="020B0604020202020204" charset="0"/>
            </a:endParaRPr>
          </a:p>
        </p:txBody>
      </p:sp>
      <p:grpSp>
        <p:nvGrpSpPr>
          <p:cNvPr id="8" name="Group 12">
            <a:extLst>
              <a:ext uri="{FF2B5EF4-FFF2-40B4-BE49-F238E27FC236}">
                <a16:creationId xmlns:a16="http://schemas.microsoft.com/office/drawing/2014/main" id="{F36E47E5-574C-4CEF-314A-604D8DEBB836}"/>
              </a:ext>
            </a:extLst>
          </p:cNvPr>
          <p:cNvGrpSpPr/>
          <p:nvPr/>
        </p:nvGrpSpPr>
        <p:grpSpPr>
          <a:xfrm>
            <a:off x="1371600" y="5799324"/>
            <a:ext cx="7467599" cy="4532424"/>
            <a:chOff x="0" y="0"/>
            <a:chExt cx="8236039" cy="4847247"/>
          </a:xfrm>
        </p:grpSpPr>
        <p:sp>
          <p:nvSpPr>
            <p:cNvPr id="9" name="Freeform 13">
              <a:extLst>
                <a:ext uri="{FF2B5EF4-FFF2-40B4-BE49-F238E27FC236}">
                  <a16:creationId xmlns:a16="http://schemas.microsoft.com/office/drawing/2014/main" id="{05CC46D7-9126-FAE8-D8EE-CB2346DA3AD2}"/>
                </a:ext>
              </a:extLst>
            </p:cNvPr>
            <p:cNvSpPr/>
            <p:nvPr/>
          </p:nvSpPr>
          <p:spPr>
            <a:xfrm>
              <a:off x="0" y="0"/>
              <a:ext cx="8236077" cy="4847209"/>
            </a:xfrm>
            <a:custGeom>
              <a:avLst/>
              <a:gdLst/>
              <a:ahLst/>
              <a:cxnLst/>
              <a:rect l="l" t="t" r="r" b="b"/>
              <a:pathLst>
                <a:path w="8236077" h="4847209">
                  <a:moveTo>
                    <a:pt x="0" y="0"/>
                  </a:moveTo>
                  <a:lnTo>
                    <a:pt x="8236077" y="0"/>
                  </a:lnTo>
                  <a:lnTo>
                    <a:pt x="8236077" y="4847209"/>
                  </a:lnTo>
                  <a:lnTo>
                    <a:pt x="0" y="4847209"/>
                  </a:lnTo>
                  <a:lnTo>
                    <a:pt x="0" y="0"/>
                  </a:lnTo>
                  <a:close/>
                </a:path>
              </a:pathLst>
            </a:custGeom>
            <a:blipFill>
              <a:blip r:embed="rId3"/>
              <a:stretch>
                <a:fillRect/>
              </a:stretch>
            </a:blipFill>
          </p:spPr>
          <p:txBody>
            <a:bodyPr/>
            <a:lstStyle/>
            <a:p>
              <a:endParaRPr lang="en-IN"/>
            </a:p>
          </p:txBody>
        </p:sp>
      </p:grpSp>
      <p:sp>
        <p:nvSpPr>
          <p:cNvPr id="10" name="TextBox 9">
            <a:extLst>
              <a:ext uri="{FF2B5EF4-FFF2-40B4-BE49-F238E27FC236}">
                <a16:creationId xmlns:a16="http://schemas.microsoft.com/office/drawing/2014/main" id="{0C9D0159-3A4B-1F6A-68C7-3AA3EB88F660}"/>
              </a:ext>
            </a:extLst>
          </p:cNvPr>
          <p:cNvSpPr txBox="1"/>
          <p:nvPr/>
        </p:nvSpPr>
        <p:spPr>
          <a:xfrm>
            <a:off x="9320981" y="3333135"/>
            <a:ext cx="184731" cy="461665"/>
          </a:xfrm>
          <a:prstGeom prst="rect">
            <a:avLst/>
          </a:prstGeom>
          <a:noFill/>
        </p:spPr>
        <p:txBody>
          <a:bodyPr wrap="none" rtlCol="0">
            <a:spAutoFit/>
          </a:bodyPr>
          <a:lstStyle/>
          <a:p>
            <a:endParaRPr lang="en-IN" sz="2400" dirty="0">
              <a:latin typeface="Baskerville Display PT" panose="020B0604020202020204" charset="0"/>
              <a:ea typeface="Baskerville Display PT"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6240906" y="8035890"/>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 name="Freeform 4"/>
          <p:cNvSpPr/>
          <p:nvPr/>
        </p:nvSpPr>
        <p:spPr>
          <a:xfrm>
            <a:off x="9511294" y="1209218"/>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5" name="Group 5"/>
          <p:cNvGrpSpPr/>
          <p:nvPr/>
        </p:nvGrpSpPr>
        <p:grpSpPr>
          <a:xfrm>
            <a:off x="2057400" y="-7144"/>
            <a:ext cx="16002000" cy="1047000"/>
            <a:chOff x="0" y="-9525"/>
            <a:chExt cx="20610390" cy="1396000"/>
          </a:xfrm>
        </p:grpSpPr>
        <p:sp>
          <p:nvSpPr>
            <p:cNvPr id="6" name="Freeform 6"/>
            <p:cNvSpPr/>
            <p:nvPr/>
          </p:nvSpPr>
          <p:spPr>
            <a:xfrm>
              <a:off x="0" y="0"/>
              <a:ext cx="20610390" cy="1386475"/>
            </a:xfrm>
            <a:custGeom>
              <a:avLst/>
              <a:gdLst/>
              <a:ahLst/>
              <a:cxnLst/>
              <a:rect l="l" t="t" r="r" b="b"/>
              <a:pathLst>
                <a:path w="20610390" h="1386475">
                  <a:moveTo>
                    <a:pt x="0" y="0"/>
                  </a:moveTo>
                  <a:lnTo>
                    <a:pt x="20610390" y="0"/>
                  </a:lnTo>
                  <a:lnTo>
                    <a:pt x="20610390" y="1386475"/>
                  </a:lnTo>
                  <a:lnTo>
                    <a:pt x="0" y="1386475"/>
                  </a:lnTo>
                  <a:close/>
                </a:path>
              </a:pathLst>
            </a:custGeom>
            <a:blipFill>
              <a:blip r:embed="rId3">
                <a:alphaModFix amt="0"/>
              </a:blip>
              <a:stretch>
                <a:fillRect t="-239651" b="-239651"/>
              </a:stretch>
            </a:blipFill>
          </p:spPr>
          <p:txBody>
            <a:bodyPr/>
            <a:lstStyle/>
            <a:p>
              <a:endParaRPr lang="en-IN"/>
            </a:p>
          </p:txBody>
        </p:sp>
        <p:sp>
          <p:nvSpPr>
            <p:cNvPr id="7" name="TextBox 7"/>
            <p:cNvSpPr txBox="1"/>
            <p:nvPr/>
          </p:nvSpPr>
          <p:spPr>
            <a:xfrm>
              <a:off x="0" y="-9525"/>
              <a:ext cx="20610386" cy="1395997"/>
            </a:xfrm>
            <a:prstGeom prst="rect">
              <a:avLst/>
            </a:prstGeom>
          </p:spPr>
          <p:txBody>
            <a:bodyPr lIns="0" tIns="0" rIns="0" bIns="0" rtlCol="0" anchor="b"/>
            <a:lstStyle/>
            <a:p>
              <a:pPr algn="l">
                <a:lnSpc>
                  <a:spcPts val="5764"/>
                </a:lnSpc>
              </a:pPr>
              <a:r>
                <a:rPr lang="en-US" sz="4803" b="1" spc="86" dirty="0">
                  <a:solidFill>
                    <a:srgbClr val="262626"/>
                  </a:solidFill>
                  <a:latin typeface="Baskerville Display PT Bold"/>
                  <a:ea typeface="Baskerville Display PT Bold"/>
                  <a:cs typeface="Baskerville Display PT Bold"/>
                  <a:sym typeface="Baskerville Display PT Bold"/>
                </a:rPr>
                <a:t>MODULE 2 -Concurrent Submission Server in Python</a:t>
              </a:r>
            </a:p>
          </p:txBody>
        </p:sp>
      </p:grpSp>
      <p:sp>
        <p:nvSpPr>
          <p:cNvPr id="8" name="TextBox 8"/>
          <p:cNvSpPr txBox="1"/>
          <p:nvPr/>
        </p:nvSpPr>
        <p:spPr>
          <a:xfrm>
            <a:off x="160106" y="1123674"/>
            <a:ext cx="8450494" cy="8538941"/>
          </a:xfrm>
          <a:prstGeom prst="rect">
            <a:avLst/>
          </a:prstGeom>
        </p:spPr>
        <p:txBody>
          <a:bodyPr wrap="square" lIns="0" tIns="0" rIns="0" bIns="0" rtlCol="0" anchor="t">
            <a:spAutoFit/>
          </a:bodyPr>
          <a:lstStyle/>
          <a:p>
            <a:pPr algn="l">
              <a:lnSpc>
                <a:spcPts val="3458"/>
              </a:lnSpc>
            </a:pPr>
            <a:endParaRPr lang="en-US" sz="3202" b="1" spc="57" dirty="0">
              <a:solidFill>
                <a:srgbClr val="262626"/>
              </a:solidFill>
              <a:latin typeface="Baskerville Display PT Bold"/>
              <a:ea typeface="Baskerville Display PT Bold"/>
              <a:cs typeface="Baskerville Display PT Bold"/>
              <a:sym typeface="Baskerville Display PT Bold"/>
            </a:endParaRPr>
          </a:p>
          <a:p>
            <a:pPr algn="l">
              <a:lnSpc>
                <a:spcPts val="3458"/>
              </a:lnSpc>
            </a:pPr>
            <a:r>
              <a:rPr lang="en-US" sz="3202" b="1" spc="57" dirty="0">
                <a:solidFill>
                  <a:srgbClr val="262626"/>
                </a:solidFill>
                <a:latin typeface="Baskerville Display PT Bold"/>
                <a:ea typeface="Baskerville Display PT Bold"/>
                <a:cs typeface="Baskerville Display PT Bold"/>
                <a:sym typeface="Baskerville Display PT Bold"/>
              </a:rPr>
              <a:t>Objective</a:t>
            </a:r>
          </a:p>
          <a:p>
            <a:pPr algn="l">
              <a:lnSpc>
                <a:spcPts val="3458"/>
              </a:lnSpc>
            </a:pPr>
            <a:endParaRPr lang="en-US" sz="3202" b="1" spc="57" dirty="0">
              <a:solidFill>
                <a:srgbClr val="262626"/>
              </a:solidFill>
              <a:latin typeface="Baskerville Display PT Bold"/>
              <a:ea typeface="Baskerville Display PT Bold"/>
              <a:cs typeface="Baskerville Display PT Bold"/>
              <a:sym typeface="Baskerville Display PT Bold"/>
            </a:endParaRPr>
          </a:p>
          <a:p>
            <a:pPr marL="653201" lvl="1" indent="-326600" algn="l">
              <a:lnSpc>
                <a:spcPts val="3458"/>
              </a:lnSpc>
              <a:buFont typeface="Arial"/>
              <a:buChar char="•"/>
            </a:pPr>
            <a:r>
              <a:rPr lang="en-US" sz="3202" spc="57" dirty="0">
                <a:solidFill>
                  <a:srgbClr val="262626"/>
                </a:solidFill>
                <a:latin typeface="Baskerville Display PT"/>
                <a:ea typeface="Baskerville Display PT"/>
                <a:cs typeface="Baskerville Display PT"/>
                <a:sym typeface="Baskerville Display PT"/>
              </a:rPr>
              <a:t>The objective of this module is to develop a multi-threaded Python server that can accept and process multiple exam submissions from different student clients simultaneously. The server ensures that every submission is received, processed, and acknowledged without data loss.</a:t>
            </a:r>
          </a:p>
          <a:p>
            <a:pPr marL="653201" lvl="1" indent="-326600" algn="l">
              <a:lnSpc>
                <a:spcPts val="3458"/>
              </a:lnSpc>
              <a:buFont typeface="Arial"/>
              <a:buChar char="•"/>
            </a:pPr>
            <a:endParaRPr lang="en-US" sz="3202" spc="57" dirty="0">
              <a:solidFill>
                <a:srgbClr val="262626"/>
              </a:solidFill>
              <a:latin typeface="Baskerville Display PT"/>
              <a:ea typeface="Baskerville Display PT"/>
              <a:cs typeface="Baskerville Display PT"/>
              <a:sym typeface="Baskerville Display PT"/>
            </a:endParaRPr>
          </a:p>
          <a:p>
            <a:pPr marL="653201" lvl="1" indent="-326600" algn="l">
              <a:lnSpc>
                <a:spcPts val="3458"/>
              </a:lnSpc>
            </a:pPr>
            <a:r>
              <a:rPr lang="en-US" sz="3202" b="1" spc="57" dirty="0">
                <a:solidFill>
                  <a:srgbClr val="262626"/>
                </a:solidFill>
                <a:latin typeface="Baskerville Display PT Bold"/>
                <a:ea typeface="Baskerville Display PT Bold"/>
                <a:cs typeface="Baskerville Display PT Bold"/>
                <a:sym typeface="Baskerville Display PT Bold"/>
              </a:rPr>
              <a:t>Key Features</a:t>
            </a:r>
          </a:p>
          <a:p>
            <a:pPr marL="653201" lvl="1" indent="-326600" algn="l">
              <a:lnSpc>
                <a:spcPts val="3458"/>
              </a:lnSpc>
            </a:pPr>
            <a:endParaRPr lang="en-US" sz="3202" b="1" spc="57" dirty="0">
              <a:solidFill>
                <a:srgbClr val="262626"/>
              </a:solidFill>
              <a:latin typeface="Baskerville Display PT Bold"/>
              <a:ea typeface="Baskerville Display PT Bold"/>
              <a:cs typeface="Baskerville Display PT Bold"/>
              <a:sym typeface="Baskerville Display PT Bold"/>
            </a:endParaRPr>
          </a:p>
          <a:p>
            <a:pPr marL="653201" lvl="1" indent="-326600" algn="l">
              <a:lnSpc>
                <a:spcPts val="3458"/>
              </a:lnSpc>
              <a:buFont typeface="Arial"/>
              <a:buChar char="•"/>
            </a:pPr>
            <a:r>
              <a:rPr lang="en-US" sz="3202" spc="57" dirty="0">
                <a:solidFill>
                  <a:srgbClr val="262626"/>
                </a:solidFill>
                <a:latin typeface="Baskerville Display PT"/>
                <a:ea typeface="Baskerville Display PT"/>
                <a:cs typeface="Baskerville Display PT"/>
                <a:sym typeface="Baskerville Display PT"/>
              </a:rPr>
              <a:t>Accepts multiple client connections. Uses socket programming for </a:t>
            </a:r>
            <a:r>
              <a:rPr lang="en-US" sz="3202" spc="57" dirty="0" err="1">
                <a:solidFill>
                  <a:srgbClr val="262626"/>
                </a:solidFill>
                <a:latin typeface="Baskerville Display PT"/>
                <a:ea typeface="Baskerville Display PT"/>
                <a:cs typeface="Baskerville Display PT"/>
                <a:sym typeface="Baskerville Display PT"/>
              </a:rPr>
              <a:t>communication.Creates</a:t>
            </a:r>
            <a:r>
              <a:rPr lang="en-US" sz="3202" spc="57" dirty="0">
                <a:solidFill>
                  <a:srgbClr val="262626"/>
                </a:solidFill>
                <a:latin typeface="Baskerville Display PT"/>
                <a:ea typeface="Baskerville Display PT"/>
                <a:cs typeface="Baskerville Display PT"/>
                <a:sym typeface="Baskerville Display PT"/>
              </a:rPr>
              <a:t> a separate thread for each connected </a:t>
            </a:r>
            <a:r>
              <a:rPr lang="en-US" sz="3202" spc="57" dirty="0" err="1">
                <a:solidFill>
                  <a:srgbClr val="262626"/>
                </a:solidFill>
                <a:latin typeface="Baskerville Display PT"/>
                <a:ea typeface="Baskerville Display PT"/>
                <a:cs typeface="Baskerville Display PT"/>
                <a:sym typeface="Baskerville Display PT"/>
              </a:rPr>
              <a:t>client.Receives</a:t>
            </a:r>
            <a:r>
              <a:rPr lang="en-US" sz="3202" spc="57" dirty="0">
                <a:solidFill>
                  <a:srgbClr val="262626"/>
                </a:solidFill>
                <a:latin typeface="Baskerville Display PT"/>
                <a:ea typeface="Baskerville Display PT"/>
                <a:cs typeface="Baskerville Display PT"/>
                <a:sym typeface="Baskerville Display PT"/>
              </a:rPr>
              <a:t> and stores exam </a:t>
            </a:r>
            <a:r>
              <a:rPr lang="en-US" sz="3202" spc="57" dirty="0" err="1">
                <a:solidFill>
                  <a:srgbClr val="262626"/>
                </a:solidFill>
                <a:latin typeface="Baskerville Display PT"/>
                <a:ea typeface="Baskerville Display PT"/>
                <a:cs typeface="Baskerville Display PT"/>
                <a:sym typeface="Baskerville Display PT"/>
              </a:rPr>
              <a:t>submissions.Sends</a:t>
            </a:r>
            <a:r>
              <a:rPr lang="en-US" sz="3202" spc="57" dirty="0">
                <a:solidFill>
                  <a:srgbClr val="262626"/>
                </a:solidFill>
                <a:latin typeface="Baskerville Display PT"/>
                <a:ea typeface="Baskerville Display PT"/>
                <a:cs typeface="Baskerville Display PT"/>
                <a:sym typeface="Baskerville Display PT"/>
              </a:rPr>
              <a:t> a confirmation message to each client.</a:t>
            </a:r>
          </a:p>
        </p:txBody>
      </p:sp>
      <p:pic>
        <p:nvPicPr>
          <p:cNvPr id="12" name="Picture 11">
            <a:extLst>
              <a:ext uri="{FF2B5EF4-FFF2-40B4-BE49-F238E27FC236}">
                <a16:creationId xmlns:a16="http://schemas.microsoft.com/office/drawing/2014/main" id="{FC13AF4A-0BA5-7693-2809-3F1D71FD4875}"/>
              </a:ext>
            </a:extLst>
          </p:cNvPr>
          <p:cNvPicPr>
            <a:picLocks noChangeAspect="1"/>
          </p:cNvPicPr>
          <p:nvPr/>
        </p:nvPicPr>
        <p:blipFill>
          <a:blip r:embed="rId4"/>
          <a:srcRect t="8299"/>
          <a:stretch>
            <a:fillRect/>
          </a:stretch>
        </p:blipFill>
        <p:spPr>
          <a:xfrm>
            <a:off x="9107129" y="3009900"/>
            <a:ext cx="8572500" cy="52407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C8D9ED">
                <a:alpha val="0"/>
              </a:srgbClr>
            </a:gs>
            <a:gs pos="100000">
              <a:srgbClr val="ACCBF9">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4916357" y="0"/>
            <a:ext cx="13381168" cy="10309241"/>
            <a:chOff x="0" y="0"/>
            <a:chExt cx="17841557" cy="13745654"/>
          </a:xfrm>
        </p:grpSpPr>
        <p:sp>
          <p:nvSpPr>
            <p:cNvPr id="3" name="Freeform 3" descr="A white circles on a black background  Description automatically generated"/>
            <p:cNvSpPr/>
            <p:nvPr/>
          </p:nvSpPr>
          <p:spPr>
            <a:xfrm>
              <a:off x="0" y="0"/>
              <a:ext cx="17841595" cy="13745590"/>
            </a:xfrm>
            <a:custGeom>
              <a:avLst/>
              <a:gdLst/>
              <a:ahLst/>
              <a:cxnLst/>
              <a:rect l="l" t="t" r="r" b="b"/>
              <a:pathLst>
                <a:path w="17841595" h="13745590">
                  <a:moveTo>
                    <a:pt x="0" y="0"/>
                  </a:moveTo>
                  <a:lnTo>
                    <a:pt x="17841595" y="0"/>
                  </a:lnTo>
                  <a:lnTo>
                    <a:pt x="17841595" y="13745590"/>
                  </a:lnTo>
                  <a:lnTo>
                    <a:pt x="0" y="13745590"/>
                  </a:lnTo>
                  <a:lnTo>
                    <a:pt x="0" y="0"/>
                  </a:lnTo>
                  <a:close/>
                </a:path>
              </a:pathLst>
            </a:custGeom>
            <a:blipFill>
              <a:blip r:embed="rId2"/>
              <a:stretch>
                <a:fillRect t="-15534" r="-4280" b="-19500"/>
              </a:stretch>
            </a:blipFill>
          </p:spPr>
          <p:txBody>
            <a:bodyPr/>
            <a:lstStyle/>
            <a:p>
              <a:endParaRPr lang="en-IN"/>
            </a:p>
          </p:txBody>
        </p:sp>
      </p:grpSp>
      <p:sp>
        <p:nvSpPr>
          <p:cNvPr id="4" name="Freeform 4"/>
          <p:cNvSpPr/>
          <p:nvPr/>
        </p:nvSpPr>
        <p:spPr>
          <a:xfrm>
            <a:off x="16476221" y="7486507"/>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5189956" y="5376301"/>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TextBox 6"/>
          <p:cNvSpPr txBox="1"/>
          <p:nvPr/>
        </p:nvSpPr>
        <p:spPr>
          <a:xfrm>
            <a:off x="152400" y="583197"/>
            <a:ext cx="9356446" cy="9015994"/>
          </a:xfrm>
          <a:prstGeom prst="rect">
            <a:avLst/>
          </a:prstGeom>
        </p:spPr>
        <p:txBody>
          <a:bodyPr wrap="square" lIns="0" tIns="0" rIns="0" bIns="0" rtlCol="0" anchor="t">
            <a:spAutoFit/>
          </a:bodyPr>
          <a:lstStyle/>
          <a:p>
            <a:pPr algn="l">
              <a:lnSpc>
                <a:spcPts val="3890"/>
              </a:lnSpc>
            </a:pPr>
            <a:r>
              <a:rPr lang="en-US" sz="3602" spc="64" dirty="0">
                <a:solidFill>
                  <a:srgbClr val="262626"/>
                </a:solidFill>
                <a:latin typeface="Baskerville Display PT"/>
                <a:ea typeface="Baskerville Display PT"/>
                <a:cs typeface="Baskerville Display PT"/>
                <a:sym typeface="Baskerville Display PT"/>
              </a:rPr>
              <a:t>🎯 </a:t>
            </a:r>
            <a:r>
              <a:rPr lang="en-US" sz="3602" b="1" spc="64" dirty="0">
                <a:solidFill>
                  <a:srgbClr val="262626"/>
                </a:solidFill>
                <a:latin typeface="Baskerville Display PT Bold"/>
                <a:ea typeface="Baskerville Display PT Bold"/>
                <a:cs typeface="Baskerville Display PT Bold"/>
                <a:sym typeface="Baskerville Display PT Bold"/>
              </a:rPr>
              <a:t>Goal</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Enable multiple students to submit exams simultaneously without delays or data loss.</a:t>
            </a:r>
          </a:p>
          <a:p>
            <a:pPr marL="743888" lvl="1" indent="-371944" algn="l">
              <a:lnSpc>
                <a:spcPts val="3890"/>
              </a:lnSpc>
            </a:pPr>
            <a:r>
              <a:rPr lang="en-US" sz="3602" spc="64" dirty="0">
                <a:solidFill>
                  <a:srgbClr val="262626"/>
                </a:solidFill>
                <a:latin typeface="Baskerville Display PT"/>
                <a:ea typeface="Baskerville Display PT"/>
                <a:cs typeface="Baskerville Display PT"/>
                <a:sym typeface="Baskerville Display PT"/>
              </a:rPr>
              <a:t>⚙️ </a:t>
            </a:r>
            <a:r>
              <a:rPr lang="en-US" sz="3602" b="1" spc="64" dirty="0">
                <a:solidFill>
                  <a:srgbClr val="262626"/>
                </a:solidFill>
                <a:latin typeface="Baskerville Display PT Bold"/>
                <a:ea typeface="Baskerville Display PT Bold"/>
                <a:cs typeface="Baskerville Display PT Bold"/>
                <a:sym typeface="Baskerville Display PT Bold"/>
              </a:rPr>
              <a:t>Action</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 Develop the server using Python.</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 Accept multiple client connections concurrently.</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Process each submission independently.</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 Store responses securely in the database.</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Generate results automatically after submission.</a:t>
            </a:r>
          </a:p>
          <a:p>
            <a:pPr marL="371944" lvl="1" algn="l">
              <a:lnSpc>
                <a:spcPts val="3890"/>
              </a:lnSpc>
            </a:pPr>
            <a:r>
              <a:rPr lang="en-US" sz="3602" spc="64" dirty="0">
                <a:solidFill>
                  <a:srgbClr val="262626"/>
                </a:solidFill>
                <a:latin typeface="Baskerville Display PT"/>
                <a:ea typeface="Baskerville Display PT"/>
                <a:cs typeface="Baskerville Display PT"/>
                <a:sym typeface="Baskerville Display PT"/>
              </a:rPr>
              <a:t>✅ </a:t>
            </a:r>
            <a:r>
              <a:rPr lang="en-US" sz="3602" b="1" spc="64" dirty="0">
                <a:solidFill>
                  <a:srgbClr val="262626"/>
                </a:solidFill>
                <a:latin typeface="Baskerville Display PT Bold"/>
                <a:ea typeface="Baskerville Display PT Bold"/>
                <a:cs typeface="Baskerville Display PT Bold"/>
                <a:sym typeface="Baskerville Display PT Bold"/>
              </a:rPr>
              <a:t>Result</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Smooth handling of concurrent submissions.</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Faster and reliable processing.</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Accurate data storage.</a:t>
            </a:r>
          </a:p>
          <a:p>
            <a:pPr marL="743888" lvl="1" indent="-371944" algn="l">
              <a:lnSpc>
                <a:spcPts val="3890"/>
              </a:lnSpc>
              <a:buFont typeface="Arial"/>
              <a:buChar char="•"/>
            </a:pPr>
            <a:r>
              <a:rPr lang="en-US" sz="3602" spc="64" dirty="0">
                <a:solidFill>
                  <a:srgbClr val="262626"/>
                </a:solidFill>
                <a:latin typeface="Baskerville Display PT"/>
                <a:ea typeface="Baskerville Display PT"/>
                <a:cs typeface="Baskerville Display PT"/>
                <a:sym typeface="Baskerville Display PT"/>
              </a:rPr>
              <a:t> Improved user experience during online examinations.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C8D9ED">
                <a:alpha val="0"/>
              </a:srgbClr>
            </a:gs>
            <a:gs pos="100000">
              <a:srgbClr val="ACCBF9">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4916357" y="0"/>
            <a:ext cx="13381168" cy="10309241"/>
            <a:chOff x="0" y="0"/>
            <a:chExt cx="17841557" cy="13745654"/>
          </a:xfrm>
        </p:grpSpPr>
        <p:sp>
          <p:nvSpPr>
            <p:cNvPr id="3" name="Freeform 3" descr="A white circles on a black background  Description automatically generated"/>
            <p:cNvSpPr/>
            <p:nvPr/>
          </p:nvSpPr>
          <p:spPr>
            <a:xfrm>
              <a:off x="0" y="0"/>
              <a:ext cx="17841595" cy="13745590"/>
            </a:xfrm>
            <a:custGeom>
              <a:avLst/>
              <a:gdLst/>
              <a:ahLst/>
              <a:cxnLst/>
              <a:rect l="l" t="t" r="r" b="b"/>
              <a:pathLst>
                <a:path w="17841595" h="13745590">
                  <a:moveTo>
                    <a:pt x="0" y="0"/>
                  </a:moveTo>
                  <a:lnTo>
                    <a:pt x="17841595" y="0"/>
                  </a:lnTo>
                  <a:lnTo>
                    <a:pt x="17841595" y="13745590"/>
                  </a:lnTo>
                  <a:lnTo>
                    <a:pt x="0" y="13745590"/>
                  </a:lnTo>
                  <a:lnTo>
                    <a:pt x="0" y="0"/>
                  </a:lnTo>
                  <a:close/>
                </a:path>
              </a:pathLst>
            </a:custGeom>
            <a:blipFill>
              <a:blip r:embed="rId2"/>
              <a:stretch>
                <a:fillRect t="-15534" r="-4280" b="-19500"/>
              </a:stretch>
            </a:blipFill>
          </p:spPr>
          <p:txBody>
            <a:bodyPr/>
            <a:lstStyle/>
            <a:p>
              <a:endParaRPr lang="en-IN"/>
            </a:p>
          </p:txBody>
        </p:sp>
      </p:grpSp>
      <p:sp>
        <p:nvSpPr>
          <p:cNvPr id="4" name="Freeform 4"/>
          <p:cNvSpPr/>
          <p:nvPr/>
        </p:nvSpPr>
        <p:spPr>
          <a:xfrm>
            <a:off x="16476221" y="7486507"/>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5189956" y="5376301"/>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68666" y="-7144"/>
            <a:ext cx="16401021" cy="1155097"/>
            <a:chOff x="0" y="-9525"/>
            <a:chExt cx="21868028" cy="1540129"/>
          </a:xfrm>
        </p:grpSpPr>
        <p:sp>
          <p:nvSpPr>
            <p:cNvPr id="7" name="Freeform 7"/>
            <p:cNvSpPr/>
            <p:nvPr/>
          </p:nvSpPr>
          <p:spPr>
            <a:xfrm>
              <a:off x="0" y="0"/>
              <a:ext cx="21868028" cy="1530604"/>
            </a:xfrm>
            <a:custGeom>
              <a:avLst/>
              <a:gdLst/>
              <a:ahLst/>
              <a:cxnLst/>
              <a:rect l="l" t="t" r="r" b="b"/>
              <a:pathLst>
                <a:path w="21868028" h="1530604">
                  <a:moveTo>
                    <a:pt x="0" y="0"/>
                  </a:moveTo>
                  <a:lnTo>
                    <a:pt x="21868028" y="0"/>
                  </a:lnTo>
                  <a:lnTo>
                    <a:pt x="21868028" y="1530604"/>
                  </a:lnTo>
                  <a:lnTo>
                    <a:pt x="0" y="1530604"/>
                  </a:lnTo>
                  <a:close/>
                </a:path>
              </a:pathLst>
            </a:custGeom>
            <a:blipFill>
              <a:blip r:embed="rId4">
                <a:alphaModFix amt="0"/>
              </a:blip>
              <a:stretch>
                <a:fillRect t="-228386" b="-228386"/>
              </a:stretch>
            </a:blipFill>
          </p:spPr>
          <p:txBody>
            <a:bodyPr/>
            <a:lstStyle/>
            <a:p>
              <a:endParaRPr lang="en-IN"/>
            </a:p>
          </p:txBody>
        </p:sp>
        <p:sp>
          <p:nvSpPr>
            <p:cNvPr id="8" name="TextBox 8"/>
            <p:cNvSpPr txBox="1"/>
            <p:nvPr/>
          </p:nvSpPr>
          <p:spPr>
            <a:xfrm>
              <a:off x="4480445" y="-9525"/>
              <a:ext cx="17387583" cy="1279526"/>
            </a:xfrm>
            <a:prstGeom prst="rect">
              <a:avLst/>
            </a:prstGeom>
          </p:spPr>
          <p:txBody>
            <a:bodyPr lIns="0" tIns="0" rIns="0" bIns="0" rtlCol="0" anchor="b"/>
            <a:lstStyle/>
            <a:p>
              <a:pPr algn="l">
                <a:lnSpc>
                  <a:spcPts val="5764"/>
                </a:lnSpc>
              </a:pPr>
              <a:r>
                <a:rPr lang="en-US" sz="4803" b="1" spc="86" dirty="0">
                  <a:solidFill>
                    <a:srgbClr val="262626"/>
                  </a:solidFill>
                  <a:latin typeface="Baskerville Display PT Bold"/>
                  <a:ea typeface="Baskerville Display PT Bold"/>
                  <a:cs typeface="Baskerville Display PT Bold"/>
                  <a:sym typeface="Baskerville Display PT Bold"/>
                </a:rPr>
                <a:t>MODULE 3- Load </a:t>
              </a:r>
              <a:r>
                <a:rPr lang="en-US" sz="4803" b="1" spc="86" dirty="0" err="1">
                  <a:solidFill>
                    <a:srgbClr val="262626"/>
                  </a:solidFill>
                  <a:latin typeface="Baskerville Display PT Bold"/>
                  <a:ea typeface="Baskerville Display PT Bold"/>
                  <a:cs typeface="Baskerville Display PT Bold"/>
                  <a:sym typeface="Baskerville Display PT Bold"/>
                </a:rPr>
                <a:t>Behaviour</a:t>
              </a:r>
              <a:r>
                <a:rPr lang="en-US" sz="4803" b="1" spc="86" dirty="0">
                  <a:solidFill>
                    <a:srgbClr val="262626"/>
                  </a:solidFill>
                  <a:latin typeface="Baskerville Display PT Bold"/>
                  <a:ea typeface="Baskerville Display PT Bold"/>
                  <a:cs typeface="Baskerville Display PT Bold"/>
                  <a:sym typeface="Baskerville Display PT Bold"/>
                </a:rPr>
                <a:t> Analysis</a:t>
              </a:r>
            </a:p>
          </p:txBody>
        </p:sp>
      </p:grpSp>
      <p:sp>
        <p:nvSpPr>
          <p:cNvPr id="9" name="TextBox 9"/>
          <p:cNvSpPr txBox="1"/>
          <p:nvPr/>
        </p:nvSpPr>
        <p:spPr>
          <a:xfrm>
            <a:off x="0" y="647701"/>
            <a:ext cx="17068799" cy="9820868"/>
          </a:xfrm>
          <a:prstGeom prst="rect">
            <a:avLst/>
          </a:prstGeom>
        </p:spPr>
        <p:txBody>
          <a:bodyPr wrap="square" lIns="0" tIns="0" rIns="0" bIns="0" rtlCol="0" anchor="t">
            <a:spAutoFit/>
          </a:bodyPr>
          <a:lstStyle/>
          <a:p>
            <a:pPr algn="l">
              <a:lnSpc>
                <a:spcPts val="3889"/>
              </a:lnSpc>
            </a:pPr>
            <a:r>
              <a:rPr lang="en-US" sz="3601" spc="64" dirty="0">
                <a:solidFill>
                  <a:srgbClr val="262626"/>
                </a:solidFill>
                <a:latin typeface="Baskerville Display PT"/>
                <a:ea typeface="Baskerville Display PT"/>
                <a:cs typeface="Baskerville Display PT"/>
                <a:sym typeface="Baskerville Display PT"/>
              </a:rPr>
              <a:t>📥 </a:t>
            </a:r>
            <a:r>
              <a:rPr lang="en-US" sz="3601" b="1" spc="64" dirty="0">
                <a:solidFill>
                  <a:srgbClr val="262626"/>
                </a:solidFill>
                <a:latin typeface="Baskerville Display PT Bold"/>
                <a:ea typeface="Baskerville Display PT Bold"/>
                <a:cs typeface="Baskerville Display PT Bold"/>
                <a:sym typeface="Baskerville Display PT Bold"/>
              </a:rPr>
              <a:t>Input</a:t>
            </a:r>
          </a:p>
          <a:p>
            <a:pPr algn="l">
              <a:lnSpc>
                <a:spcPts val="3889"/>
              </a:lnSpc>
            </a:pPr>
            <a:endParaRPr lang="en-US" sz="3601" b="1" spc="64" dirty="0">
              <a:solidFill>
                <a:srgbClr val="262626"/>
              </a:solidFill>
              <a:latin typeface="Baskerville Display PT Bold"/>
              <a:ea typeface="Baskerville Display PT Bold"/>
              <a:cs typeface="Baskerville Display PT Bold"/>
              <a:sym typeface="Baskerville Display PT Bold"/>
            </a:endParaRP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Simulated concurrent users</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 Quiz submission requests</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Server workload</a:t>
            </a:r>
          </a:p>
          <a:p>
            <a:pPr marL="755274" lvl="1" indent="-377637" algn="l">
              <a:lnSpc>
                <a:spcPts val="3889"/>
              </a:lnSpc>
              <a:buFont typeface="Arial"/>
              <a:buChar char="•"/>
            </a:pPr>
            <a:endParaRPr lang="en-US" sz="3601" spc="64" dirty="0">
              <a:solidFill>
                <a:srgbClr val="262626"/>
              </a:solidFill>
              <a:latin typeface="Baskerville Display PT"/>
              <a:ea typeface="Baskerville Display PT"/>
              <a:cs typeface="Baskerville Display PT"/>
              <a:sym typeface="Baskerville Display PT"/>
            </a:endParaRPr>
          </a:p>
          <a:p>
            <a:pPr marL="755274" lvl="1" indent="-377637" algn="l">
              <a:lnSpc>
                <a:spcPts val="3889"/>
              </a:lnSpc>
            </a:pPr>
            <a:r>
              <a:rPr lang="en-US" sz="3601" spc="64" dirty="0">
                <a:solidFill>
                  <a:srgbClr val="262626"/>
                </a:solidFill>
                <a:latin typeface="Baskerville Display PT"/>
                <a:ea typeface="Baskerville Display PT"/>
                <a:cs typeface="Baskerville Display PT"/>
                <a:sym typeface="Baskerville Display PT"/>
              </a:rPr>
              <a:t>⚙️ </a:t>
            </a:r>
            <a:r>
              <a:rPr lang="en-US" sz="3601" b="1" spc="64" dirty="0">
                <a:solidFill>
                  <a:srgbClr val="262626"/>
                </a:solidFill>
                <a:latin typeface="Baskerville Display PT Bold"/>
                <a:ea typeface="Baskerville Display PT Bold"/>
                <a:cs typeface="Baskerville Display PT Bold"/>
                <a:sym typeface="Baskerville Display PT Bold"/>
              </a:rPr>
              <a:t>Process</a:t>
            </a:r>
          </a:p>
          <a:p>
            <a:pPr marL="755274" lvl="1" indent="-377637" algn="l">
              <a:lnSpc>
                <a:spcPts val="3889"/>
              </a:lnSpc>
            </a:pPr>
            <a:endParaRPr lang="en-US" sz="3601" b="1" spc="64" dirty="0">
              <a:solidFill>
                <a:srgbClr val="262626"/>
              </a:solidFill>
              <a:latin typeface="Baskerville Display PT Bold"/>
              <a:ea typeface="Baskerville Display PT Bold"/>
              <a:cs typeface="Baskerville Display PT Bold"/>
              <a:sym typeface="Baskerville Display PT Bold"/>
            </a:endParaRP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Execute stress testing</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Measure response time</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Monitor throughput &amp; error rate</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Detect performance bottlenecks</a:t>
            </a:r>
          </a:p>
          <a:p>
            <a:pPr marL="755274" lvl="1" indent="-377637" algn="l">
              <a:lnSpc>
                <a:spcPts val="3889"/>
              </a:lnSpc>
              <a:buFont typeface="Arial"/>
              <a:buChar char="•"/>
            </a:pPr>
            <a:endParaRPr lang="en-US" sz="3601" spc="64" dirty="0">
              <a:solidFill>
                <a:srgbClr val="262626"/>
              </a:solidFill>
              <a:latin typeface="Baskerville Display PT"/>
              <a:ea typeface="Baskerville Display PT"/>
              <a:cs typeface="Baskerville Display PT"/>
              <a:sym typeface="Baskerville Display PT"/>
            </a:endParaRPr>
          </a:p>
          <a:p>
            <a:pPr marL="755274" lvl="1" indent="-377637" algn="l">
              <a:lnSpc>
                <a:spcPts val="3889"/>
              </a:lnSpc>
            </a:pPr>
            <a:r>
              <a:rPr lang="en-US" sz="3601" spc="64" dirty="0">
                <a:solidFill>
                  <a:srgbClr val="262626"/>
                </a:solidFill>
                <a:latin typeface="Baskerville Display PT"/>
                <a:ea typeface="Baskerville Display PT"/>
                <a:cs typeface="Baskerville Display PT"/>
                <a:sym typeface="Baskerville Display PT"/>
              </a:rPr>
              <a:t>📤 </a:t>
            </a:r>
            <a:r>
              <a:rPr lang="en-US" sz="3601" b="1" spc="64" dirty="0">
                <a:solidFill>
                  <a:srgbClr val="262626"/>
                </a:solidFill>
                <a:latin typeface="Baskerville Display PT Bold"/>
                <a:ea typeface="Baskerville Display PT Bold"/>
                <a:cs typeface="Baskerville Display PT Bold"/>
                <a:sym typeface="Baskerville Display PT Bold"/>
              </a:rPr>
              <a:t>Output</a:t>
            </a:r>
          </a:p>
          <a:p>
            <a:pPr marL="755274" lvl="1" indent="-377637" algn="l">
              <a:lnSpc>
                <a:spcPts val="3889"/>
              </a:lnSpc>
            </a:pPr>
            <a:endParaRPr lang="en-US" sz="3601" b="1" spc="64" dirty="0">
              <a:solidFill>
                <a:srgbClr val="262626"/>
              </a:solidFill>
              <a:latin typeface="Baskerville Display PT Bold"/>
              <a:ea typeface="Baskerville Display PT Bold"/>
              <a:cs typeface="Baskerville Display PT Bold"/>
              <a:sym typeface="Baskerville Display PT Bold"/>
            </a:endParaRP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Performance report</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System stability analysis</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 Optimization recommendations</a:t>
            </a:r>
          </a:p>
          <a:p>
            <a:pPr marL="755274" lvl="1" indent="-377637" algn="l">
              <a:lnSpc>
                <a:spcPts val="3889"/>
              </a:lnSpc>
              <a:buFont typeface="Arial"/>
              <a:buChar char="•"/>
            </a:pPr>
            <a:r>
              <a:rPr lang="en-US" sz="3601" spc="64" dirty="0">
                <a:solidFill>
                  <a:srgbClr val="262626"/>
                </a:solidFill>
                <a:latin typeface="Baskerville Display PT"/>
                <a:ea typeface="Baskerville Display PT"/>
                <a:cs typeface="Baskerville Display PT"/>
                <a:sym typeface="Baskerville Display PT"/>
              </a:rPr>
              <a:t> Improved scalability</a:t>
            </a:r>
          </a:p>
        </p:txBody>
      </p:sp>
      <p:grpSp>
        <p:nvGrpSpPr>
          <p:cNvPr id="10" name="Group 10"/>
          <p:cNvGrpSpPr/>
          <p:nvPr/>
        </p:nvGrpSpPr>
        <p:grpSpPr>
          <a:xfrm>
            <a:off x="10445925" y="1688440"/>
            <a:ext cx="7566755" cy="7320915"/>
            <a:chOff x="0" y="0"/>
            <a:chExt cx="10089007" cy="9761220"/>
          </a:xfrm>
        </p:grpSpPr>
        <p:sp>
          <p:nvSpPr>
            <p:cNvPr id="11" name="Freeform 11"/>
            <p:cNvSpPr/>
            <p:nvPr/>
          </p:nvSpPr>
          <p:spPr>
            <a:xfrm>
              <a:off x="0" y="0"/>
              <a:ext cx="10089007" cy="9761220"/>
            </a:xfrm>
            <a:custGeom>
              <a:avLst/>
              <a:gdLst/>
              <a:ahLst/>
              <a:cxnLst/>
              <a:rect l="l" t="t" r="r" b="b"/>
              <a:pathLst>
                <a:path w="10089007" h="9761220">
                  <a:moveTo>
                    <a:pt x="0" y="0"/>
                  </a:moveTo>
                  <a:lnTo>
                    <a:pt x="10089007" y="0"/>
                  </a:lnTo>
                  <a:lnTo>
                    <a:pt x="10089007" y="9761220"/>
                  </a:lnTo>
                  <a:lnTo>
                    <a:pt x="0" y="9761220"/>
                  </a:lnTo>
                  <a:lnTo>
                    <a:pt x="0" y="0"/>
                  </a:lnTo>
                  <a:close/>
                </a:path>
              </a:pathLst>
            </a:custGeom>
            <a:blipFill>
              <a:blip r:embed="rId5"/>
              <a:stretch>
                <a:fillRect t="-18905" b="-18905"/>
              </a:stretch>
            </a:blipFill>
          </p:spPr>
          <p:txBody>
            <a:bodyPr/>
            <a:lstStyle/>
            <a:p>
              <a:endParaRPr lang="en-IN"/>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B05249-7B18-E10C-927F-F7152847C822}"/>
              </a:ext>
            </a:extLst>
          </p:cNvPr>
          <p:cNvPicPr>
            <a:picLocks noChangeAspect="1"/>
          </p:cNvPicPr>
          <p:nvPr/>
        </p:nvPicPr>
        <p:blipFill>
          <a:blip r:embed="rId2">
            <a:extLst>
              <a:ext uri="{28A0092B-C50C-407E-A947-70E740481C1C}">
                <a14:useLocalDpi xmlns:a14="http://schemas.microsoft.com/office/drawing/2010/main" val="0"/>
              </a:ext>
            </a:extLst>
          </a:blip>
          <a:srcRect t="10189" b="10189"/>
          <a:stretch>
            <a:fillRect/>
          </a:stretch>
        </p:blipFill>
        <p:spPr>
          <a:xfrm>
            <a:off x="5783275" y="1966268"/>
            <a:ext cx="11548281" cy="5172219"/>
          </a:xfrm>
          <a:prstGeom prst="rect">
            <a:avLst/>
          </a:prstGeom>
        </p:spPr>
      </p:pic>
      <p:pic>
        <p:nvPicPr>
          <p:cNvPr id="5" name="Picture 4">
            <a:extLst>
              <a:ext uri="{FF2B5EF4-FFF2-40B4-BE49-F238E27FC236}">
                <a16:creationId xmlns:a16="http://schemas.microsoft.com/office/drawing/2014/main" id="{483D3DC0-2A61-AA13-8912-3A34AED414D9}"/>
              </a:ext>
            </a:extLst>
          </p:cNvPr>
          <p:cNvPicPr>
            <a:picLocks noChangeAspect="1"/>
          </p:cNvPicPr>
          <p:nvPr/>
        </p:nvPicPr>
        <p:blipFill>
          <a:blip r:embed="rId3"/>
          <a:srcRect t="25928" r="50875" b="5559"/>
          <a:stretch>
            <a:fillRect/>
          </a:stretch>
        </p:blipFill>
        <p:spPr>
          <a:xfrm>
            <a:off x="329784" y="4856575"/>
            <a:ext cx="5156616" cy="4542283"/>
          </a:xfrm>
          <a:prstGeom prst="rect">
            <a:avLst/>
          </a:prstGeom>
        </p:spPr>
      </p:pic>
      <p:pic>
        <p:nvPicPr>
          <p:cNvPr id="7" name="Picture 6">
            <a:extLst>
              <a:ext uri="{FF2B5EF4-FFF2-40B4-BE49-F238E27FC236}">
                <a16:creationId xmlns:a16="http://schemas.microsoft.com/office/drawing/2014/main" id="{6A2BF845-E6C0-78AB-79ED-031EB2099534}"/>
              </a:ext>
            </a:extLst>
          </p:cNvPr>
          <p:cNvPicPr>
            <a:picLocks noChangeAspect="1"/>
          </p:cNvPicPr>
          <p:nvPr/>
        </p:nvPicPr>
        <p:blipFill>
          <a:blip r:embed="rId4">
            <a:extLst>
              <a:ext uri="{28A0092B-C50C-407E-A947-70E740481C1C}">
                <a14:useLocalDpi xmlns:a14="http://schemas.microsoft.com/office/drawing/2010/main" val="0"/>
              </a:ext>
            </a:extLst>
          </a:blip>
          <a:srcRect t="29631" r="51563" b="5559"/>
          <a:stretch>
            <a:fillRect/>
          </a:stretch>
        </p:blipFill>
        <p:spPr>
          <a:xfrm>
            <a:off x="491319" y="342900"/>
            <a:ext cx="5029200" cy="3785080"/>
          </a:xfrm>
          <a:prstGeom prst="rect">
            <a:avLst/>
          </a:prstGeom>
        </p:spPr>
      </p:pic>
    </p:spTree>
    <p:extLst>
      <p:ext uri="{BB962C8B-B14F-4D97-AF65-F5344CB8AC3E}">
        <p14:creationId xmlns:p14="http://schemas.microsoft.com/office/powerpoint/2010/main" val="3648449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141514" cy="10295039"/>
            <a:chOff x="0" y="0"/>
            <a:chExt cx="1522019" cy="13726719"/>
          </a:xfrm>
        </p:grpSpPr>
        <p:sp>
          <p:nvSpPr>
            <p:cNvPr id="3" name="Freeform 3"/>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4" name="TextBox 4"/>
          <p:cNvSpPr txBox="1"/>
          <p:nvPr/>
        </p:nvSpPr>
        <p:spPr>
          <a:xfrm>
            <a:off x="4114800" y="647700"/>
            <a:ext cx="11353800" cy="627159"/>
          </a:xfrm>
          <a:prstGeom prst="rect">
            <a:avLst/>
          </a:prstGeom>
        </p:spPr>
        <p:txBody>
          <a:bodyPr wrap="square" lIns="0" tIns="0" rIns="0" bIns="0" rtlCol="0" anchor="t">
            <a:spAutoFit/>
          </a:bodyPr>
          <a:lstStyle/>
          <a:p>
            <a:pPr algn="l">
              <a:lnSpc>
                <a:spcPts val="4611"/>
              </a:lnSpc>
            </a:pPr>
            <a:r>
              <a:rPr lang="en-US" sz="4803" b="1" spc="86" dirty="0">
                <a:solidFill>
                  <a:srgbClr val="262626"/>
                </a:solidFill>
                <a:latin typeface="Baskerville Display PT Bold"/>
                <a:ea typeface="Baskerville Display PT Bold"/>
                <a:cs typeface="Baskerville Display PT Bold"/>
                <a:sym typeface="Baskerville Display PT Bold"/>
              </a:rPr>
              <a:t>RESULT AND RECOMMENDATION</a:t>
            </a:r>
          </a:p>
        </p:txBody>
      </p:sp>
      <p:sp>
        <p:nvSpPr>
          <p:cNvPr id="6" name="TextBox 5">
            <a:extLst>
              <a:ext uri="{FF2B5EF4-FFF2-40B4-BE49-F238E27FC236}">
                <a16:creationId xmlns:a16="http://schemas.microsoft.com/office/drawing/2014/main" id="{18404709-7AF7-FB24-46A9-71453BC1C28C}"/>
              </a:ext>
            </a:extLst>
          </p:cNvPr>
          <p:cNvSpPr txBox="1"/>
          <p:nvPr/>
        </p:nvSpPr>
        <p:spPr>
          <a:xfrm>
            <a:off x="457200" y="2171700"/>
            <a:ext cx="17221200" cy="8125301"/>
          </a:xfrm>
          <a:prstGeom prst="rect">
            <a:avLst/>
          </a:prstGeom>
          <a:noFill/>
        </p:spPr>
        <p:txBody>
          <a:bodyPr wrap="square" rtlCol="0">
            <a:spAutoFit/>
          </a:bodyPr>
          <a:lstStyle/>
          <a:p>
            <a:endParaRPr lang="en-US" dirty="0"/>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Successfully developed the Exam Server-Client system.</a:t>
            </a:r>
          </a:p>
          <a:p>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Multiple clients can connect to the server and attend the exam.</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The Concurrent Submission Server in Python handles multiple answer submissions simultaneously.</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Successfully measured response time and submission performance.</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Load behavior analysis shows how system performance changes as user load increases.</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Identified server overload, increased response time, and performance bottlenecks under high load.</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Generated performance data for analysis and reporting.</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r>
              <a:rPr lang="en-US" sz="2800" dirty="0">
                <a:latin typeface="Baskerville Display PT" panose="020B0604020202020204" charset="0"/>
                <a:ea typeface="Baskerville Display PT" panose="020B0604020202020204" charset="0"/>
              </a:rPr>
              <a:t>The system helps improve the reliability, efficiency, and scalability of the virtual quiz portal.</a:t>
            </a: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endParaRPr lang="en-US" sz="2800" dirty="0">
              <a:latin typeface="Baskerville Display PT" panose="020B0604020202020204" charset="0"/>
              <a:ea typeface="Baskerville Display PT" panose="020B0604020202020204" charset="0"/>
            </a:endParaRPr>
          </a:p>
          <a:p>
            <a:pPr marL="457200" indent="-457200">
              <a:buFont typeface="Wingdings" panose="05000000000000000000" pitchFamily="2" charset="2"/>
              <a:buChar char="Ø"/>
            </a:pPr>
            <a:endParaRPr lang="en-IN" sz="2800" dirty="0">
              <a:latin typeface="Baskerville Display PT" panose="020B0604020202020204" charset="0"/>
              <a:ea typeface="Baskerville Display PT" panose="020B06040202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692D04-668D-3BBD-6675-9F7488A29FF1}"/>
              </a:ext>
            </a:extLst>
          </p:cNvPr>
          <p:cNvSpPr txBox="1"/>
          <p:nvPr/>
        </p:nvSpPr>
        <p:spPr>
          <a:xfrm>
            <a:off x="1143000" y="190500"/>
            <a:ext cx="17145000" cy="830997"/>
          </a:xfrm>
          <a:prstGeom prst="rect">
            <a:avLst/>
          </a:prstGeom>
          <a:noFill/>
        </p:spPr>
        <p:txBody>
          <a:bodyPr wrap="square" rtlCol="0">
            <a:spAutoFit/>
          </a:bodyPr>
          <a:lstStyle/>
          <a:p>
            <a:r>
              <a:rPr lang="en-US" sz="4800" b="1" dirty="0">
                <a:latin typeface="Baskerville Display PT" panose="020B0604020202020204" charset="0"/>
                <a:ea typeface="Baskerville Display PT" panose="020B0604020202020204" charset="0"/>
              </a:rPr>
              <a:t>RESULT ON LEARNING AND PERSONAL DEVELOPMENT </a:t>
            </a:r>
            <a:endParaRPr lang="en-IN" sz="4800" b="1" dirty="0">
              <a:latin typeface="Baskerville Display PT" panose="020B0604020202020204" charset="0"/>
              <a:ea typeface="Baskerville Display PT" panose="020B0604020202020204" charset="0"/>
            </a:endParaRPr>
          </a:p>
        </p:txBody>
      </p:sp>
      <p:sp>
        <p:nvSpPr>
          <p:cNvPr id="3" name="TextBox 2">
            <a:extLst>
              <a:ext uri="{FF2B5EF4-FFF2-40B4-BE49-F238E27FC236}">
                <a16:creationId xmlns:a16="http://schemas.microsoft.com/office/drawing/2014/main" id="{998343D9-0DD5-96DE-4C5F-28F6E7C6613D}"/>
              </a:ext>
            </a:extLst>
          </p:cNvPr>
          <p:cNvSpPr txBox="1"/>
          <p:nvPr/>
        </p:nvSpPr>
        <p:spPr>
          <a:xfrm>
            <a:off x="228600" y="800100"/>
            <a:ext cx="17526000" cy="9494163"/>
          </a:xfrm>
          <a:prstGeom prst="rect">
            <a:avLst/>
          </a:prstGeom>
          <a:noFill/>
        </p:spPr>
        <p:txBody>
          <a:bodyPr wrap="square" rtlCol="0">
            <a:spAutoFit/>
          </a:bodyPr>
          <a:lstStyle/>
          <a:p>
            <a:endParaRPr lang="en-US" dirty="0"/>
          </a:p>
          <a:p>
            <a:r>
              <a:rPr lang="en-US" sz="2800" b="1" dirty="0">
                <a:latin typeface="Baskerville Display PT" panose="020B0604020202020204" charset="0"/>
                <a:ea typeface="Baskerville Display PT" panose="020B0604020202020204" charset="0"/>
              </a:rPr>
              <a:t>Learning Outcomes</a:t>
            </a:r>
          </a:p>
          <a:p>
            <a:endParaRPr lang="en-US" sz="2800" dirty="0"/>
          </a:p>
          <a:p>
            <a:pPr marL="285750" indent="-285750">
              <a:buFont typeface="Wingdings" panose="05000000000000000000" pitchFamily="2" charset="2"/>
              <a:buChar char="§"/>
            </a:pPr>
            <a:r>
              <a:rPr lang="en-US" sz="2800" dirty="0"/>
              <a:t>Learned to design a client-server based quiz system.</a:t>
            </a:r>
          </a:p>
          <a:p>
            <a:pPr marL="285750" indent="-285750">
              <a:buFont typeface="Wingdings" panose="05000000000000000000" pitchFamily="2" charset="2"/>
              <a:buChar char="§"/>
            </a:pPr>
            <a:r>
              <a:rPr lang="en-US" sz="2800" dirty="0"/>
              <a:t>Gained practical knowledge of Python and concurrent programming.</a:t>
            </a:r>
          </a:p>
          <a:p>
            <a:pPr marL="285750" indent="-285750">
              <a:buFont typeface="Wingdings" panose="05000000000000000000" pitchFamily="2" charset="2"/>
              <a:buChar char="§"/>
            </a:pPr>
            <a:r>
              <a:rPr lang="en-US" sz="2800" dirty="0"/>
              <a:t>Learned to perform stress testing with multiple users.</a:t>
            </a:r>
          </a:p>
          <a:p>
            <a:pPr marL="285750" indent="-285750">
              <a:buFont typeface="Wingdings" panose="05000000000000000000" pitchFamily="2" charset="2"/>
              <a:buChar char="§"/>
            </a:pPr>
            <a:r>
              <a:rPr lang="en-US" sz="2800" dirty="0"/>
              <a:t>Developed skills in performance monitoring and data analysis.</a:t>
            </a:r>
          </a:p>
          <a:p>
            <a:pPr marL="285750" indent="-285750">
              <a:buFont typeface="Wingdings" panose="05000000000000000000" pitchFamily="2" charset="2"/>
              <a:buChar char="§"/>
            </a:pPr>
            <a:r>
              <a:rPr lang="en-US" sz="2800" dirty="0"/>
              <a:t>Improved problem-solving and debugging skills.</a:t>
            </a:r>
          </a:p>
          <a:p>
            <a:endParaRPr lang="en-US" sz="2800" dirty="0"/>
          </a:p>
          <a:p>
            <a:r>
              <a:rPr lang="en-US" sz="2800" b="1" dirty="0">
                <a:latin typeface="Baskerville Display PT" panose="020B0604020202020204" charset="0"/>
                <a:ea typeface="Baskerville Display PT" panose="020B0604020202020204" charset="0"/>
              </a:rPr>
              <a:t>Engineering Standards</a:t>
            </a:r>
          </a:p>
          <a:p>
            <a:endParaRPr lang="en-US" sz="2800" dirty="0"/>
          </a:p>
          <a:p>
            <a:pPr marL="285750" indent="-285750">
              <a:buFont typeface="Wingdings" panose="05000000000000000000" pitchFamily="2" charset="2"/>
              <a:buChar char="§"/>
            </a:pPr>
            <a:r>
              <a:rPr lang="en-US" sz="2800" dirty="0"/>
              <a:t>Followed proper software development and testing practices.</a:t>
            </a:r>
          </a:p>
          <a:p>
            <a:pPr marL="285750" indent="-285750">
              <a:buFont typeface="Wingdings" panose="05000000000000000000" pitchFamily="2" charset="2"/>
              <a:buChar char="§"/>
            </a:pPr>
            <a:r>
              <a:rPr lang="en-US" sz="2800" dirty="0"/>
              <a:t>Focused on reliability, performance, and scalability.</a:t>
            </a:r>
          </a:p>
          <a:p>
            <a:pPr marL="285750" indent="-285750">
              <a:buFont typeface="Wingdings" panose="05000000000000000000" pitchFamily="2" charset="2"/>
              <a:buChar char="§"/>
            </a:pPr>
            <a:r>
              <a:rPr lang="en-US" sz="2800" dirty="0"/>
              <a:t>Used structured methods for data collection and analysis.</a:t>
            </a:r>
          </a:p>
          <a:p>
            <a:pPr marL="285750" indent="-285750">
              <a:buFont typeface="Wingdings" panose="05000000000000000000" pitchFamily="2" charset="2"/>
              <a:buChar char="§"/>
            </a:pPr>
            <a:r>
              <a:rPr lang="en-US" sz="2800" dirty="0"/>
              <a:t>Considered security and efficient resource usage.</a:t>
            </a:r>
          </a:p>
          <a:p>
            <a:endParaRPr lang="en-US" sz="2800" b="1" dirty="0">
              <a:latin typeface="Baskerville Display PT" panose="020B0604020202020204" charset="0"/>
              <a:ea typeface="Baskerville Display PT" panose="020B0604020202020204" charset="0"/>
            </a:endParaRPr>
          </a:p>
          <a:p>
            <a:r>
              <a:rPr lang="en-US" sz="2800" b="1" dirty="0">
                <a:latin typeface="Baskerville Display PT" panose="020B0604020202020204" charset="0"/>
                <a:ea typeface="Baskerville Display PT" panose="020B0604020202020204" charset="0"/>
              </a:rPr>
              <a:t>Applications of the Project</a:t>
            </a:r>
          </a:p>
          <a:p>
            <a:endParaRPr lang="en-US" sz="2800" dirty="0"/>
          </a:p>
          <a:p>
            <a:pPr marL="285750" indent="-285750">
              <a:buFont typeface="Wingdings" panose="05000000000000000000" pitchFamily="2" charset="2"/>
              <a:buChar char="§"/>
            </a:pPr>
            <a:r>
              <a:rPr lang="en-US" sz="2800" dirty="0"/>
              <a:t>Used for online examinations and college quizzes.</a:t>
            </a:r>
          </a:p>
          <a:p>
            <a:pPr marL="285750" indent="-285750">
              <a:buFont typeface="Wingdings" panose="05000000000000000000" pitchFamily="2" charset="2"/>
              <a:buChar char="§"/>
            </a:pPr>
            <a:r>
              <a:rPr lang="en-US" sz="2800" dirty="0"/>
              <a:t>Helps test systems before large-scale examinations.</a:t>
            </a:r>
          </a:p>
          <a:p>
            <a:pPr marL="285750" indent="-285750">
              <a:buFont typeface="Wingdings" panose="05000000000000000000" pitchFamily="2" charset="2"/>
              <a:buChar char="§"/>
            </a:pPr>
            <a:r>
              <a:rPr lang="en-US" sz="2800" dirty="0"/>
              <a:t>Identifies server bottlenecks and performance issues.</a:t>
            </a:r>
          </a:p>
          <a:p>
            <a:pPr marL="285750" indent="-285750">
              <a:buFont typeface="Wingdings" panose="05000000000000000000" pitchFamily="2" charset="2"/>
              <a:buChar char="§"/>
            </a:pPr>
            <a:r>
              <a:rPr lang="en-US" sz="2800" dirty="0"/>
              <a:t>Supports system optimization and better user experience</a:t>
            </a:r>
            <a:endParaRPr lang="en-IN" dirty="0"/>
          </a:p>
        </p:txBody>
      </p:sp>
    </p:spTree>
    <p:extLst>
      <p:ext uri="{BB962C8B-B14F-4D97-AF65-F5344CB8AC3E}">
        <p14:creationId xmlns:p14="http://schemas.microsoft.com/office/powerpoint/2010/main" val="1296636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141514" cy="10295039"/>
            <a:chOff x="0" y="0"/>
            <a:chExt cx="1522019" cy="13726719"/>
          </a:xfrm>
        </p:grpSpPr>
        <p:sp>
          <p:nvSpPr>
            <p:cNvPr id="3" name="Freeform 3"/>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4" name="TextBox 4"/>
          <p:cNvSpPr txBox="1"/>
          <p:nvPr/>
        </p:nvSpPr>
        <p:spPr>
          <a:xfrm>
            <a:off x="6477001" y="485907"/>
            <a:ext cx="7327920" cy="627159"/>
          </a:xfrm>
          <a:prstGeom prst="rect">
            <a:avLst/>
          </a:prstGeom>
        </p:spPr>
        <p:txBody>
          <a:bodyPr wrap="square" lIns="0" tIns="0" rIns="0" bIns="0" rtlCol="0" anchor="t">
            <a:spAutoFit/>
          </a:bodyPr>
          <a:lstStyle/>
          <a:p>
            <a:pPr algn="l">
              <a:lnSpc>
                <a:spcPts val="4611"/>
              </a:lnSpc>
            </a:pPr>
            <a:r>
              <a:rPr lang="en-US" sz="4803" b="1" spc="86" dirty="0">
                <a:solidFill>
                  <a:srgbClr val="262626"/>
                </a:solidFill>
                <a:latin typeface="Baskerville Display PT Bold"/>
                <a:ea typeface="Baskerville Display PT Bold"/>
                <a:cs typeface="Baskerville Display PT Bold"/>
                <a:sym typeface="Baskerville Display PT Bold"/>
              </a:rPr>
              <a:t>APPLICATIONS</a:t>
            </a:r>
          </a:p>
        </p:txBody>
      </p:sp>
      <p:grpSp>
        <p:nvGrpSpPr>
          <p:cNvPr id="5" name="Group 5"/>
          <p:cNvGrpSpPr/>
          <p:nvPr/>
        </p:nvGrpSpPr>
        <p:grpSpPr>
          <a:xfrm>
            <a:off x="1690106" y="2769403"/>
            <a:ext cx="6377692" cy="5948248"/>
            <a:chOff x="0" y="0"/>
            <a:chExt cx="8503590" cy="7930998"/>
          </a:xfrm>
        </p:grpSpPr>
        <p:sp>
          <p:nvSpPr>
            <p:cNvPr id="6" name="Freeform 6"/>
            <p:cNvSpPr/>
            <p:nvPr/>
          </p:nvSpPr>
          <p:spPr>
            <a:xfrm>
              <a:off x="0" y="0"/>
              <a:ext cx="8503539" cy="7931023"/>
            </a:xfrm>
            <a:custGeom>
              <a:avLst/>
              <a:gdLst/>
              <a:ahLst/>
              <a:cxnLst/>
              <a:rect l="l" t="t" r="r" b="b"/>
              <a:pathLst>
                <a:path w="8503539" h="7931023">
                  <a:moveTo>
                    <a:pt x="0" y="0"/>
                  </a:moveTo>
                  <a:lnTo>
                    <a:pt x="8503539" y="0"/>
                  </a:lnTo>
                  <a:lnTo>
                    <a:pt x="8503539" y="7931023"/>
                  </a:lnTo>
                  <a:lnTo>
                    <a:pt x="0" y="7931023"/>
                  </a:lnTo>
                  <a:lnTo>
                    <a:pt x="0" y="0"/>
                  </a:lnTo>
                  <a:close/>
                </a:path>
              </a:pathLst>
            </a:custGeom>
            <a:blipFill>
              <a:blip r:embed="rId2"/>
              <a:stretch>
                <a:fillRect t="-55449" b="-55448"/>
              </a:stretch>
            </a:blipFill>
          </p:spPr>
          <p:txBody>
            <a:bodyPr/>
            <a:lstStyle/>
            <a:p>
              <a:endParaRPr lang="en-IN"/>
            </a:p>
          </p:txBody>
        </p:sp>
      </p:grpSp>
      <p:sp>
        <p:nvSpPr>
          <p:cNvPr id="7" name="AutoShape 7"/>
          <p:cNvSpPr/>
          <p:nvPr/>
        </p:nvSpPr>
        <p:spPr>
          <a:xfrm rot="7860">
            <a:off x="9139228" y="3426914"/>
            <a:ext cx="8363798" cy="0"/>
          </a:xfrm>
          <a:prstGeom prst="line">
            <a:avLst/>
          </a:prstGeom>
          <a:ln w="9525" cap="rnd">
            <a:solidFill>
              <a:srgbClr val="629DD1"/>
            </a:solidFill>
            <a:prstDash val="solid"/>
            <a:headEnd type="none" w="sm" len="sm"/>
            <a:tailEnd type="none" w="sm" len="sm"/>
          </a:ln>
        </p:spPr>
        <p:txBody>
          <a:bodyPr/>
          <a:lstStyle/>
          <a:p>
            <a:endParaRPr lang="en-IN"/>
          </a:p>
        </p:txBody>
      </p:sp>
      <p:sp>
        <p:nvSpPr>
          <p:cNvPr id="8" name="TextBox 8"/>
          <p:cNvSpPr txBox="1"/>
          <p:nvPr/>
        </p:nvSpPr>
        <p:spPr>
          <a:xfrm>
            <a:off x="9231630" y="3552644"/>
            <a:ext cx="1503216" cy="5744423"/>
          </a:xfrm>
          <a:prstGeom prst="rect">
            <a:avLst/>
          </a:prstGeom>
        </p:spPr>
        <p:txBody>
          <a:bodyPr lIns="0" tIns="0" rIns="0" bIns="0" rtlCol="0" anchor="t">
            <a:spAutoFit/>
          </a:bodyPr>
          <a:lstStyle/>
          <a:p>
            <a:pPr algn="l">
              <a:lnSpc>
                <a:spcPts val="3728"/>
              </a:lnSpc>
            </a:pPr>
            <a:r>
              <a:rPr lang="en-US" sz="3452" b="1" spc="62">
                <a:solidFill>
                  <a:srgbClr val="000000"/>
                </a:solidFill>
                <a:latin typeface="Baskerville Display PT Bold"/>
                <a:ea typeface="Baskerville Display PT Bold"/>
                <a:cs typeface="Baskerville Display PT Bold"/>
                <a:sym typeface="Baskerville Display PT Bold"/>
              </a:rPr>
              <a:t>Where the System Can Be Used</a:t>
            </a:r>
          </a:p>
        </p:txBody>
      </p:sp>
      <p:sp>
        <p:nvSpPr>
          <p:cNvPr id="9" name="TextBox 9"/>
          <p:cNvSpPr txBox="1"/>
          <p:nvPr/>
        </p:nvSpPr>
        <p:spPr>
          <a:xfrm>
            <a:off x="11014310" y="3588048"/>
            <a:ext cx="6407734" cy="755704"/>
          </a:xfrm>
          <a:prstGeom prst="rect">
            <a:avLst/>
          </a:prstGeom>
        </p:spPr>
        <p:txBody>
          <a:bodyPr lIns="0" tIns="0" rIns="0" bIns="0" rtlCol="0" anchor="t">
            <a:spAutoFit/>
          </a:bodyPr>
          <a:lstStyle/>
          <a:p>
            <a:pPr algn="l">
              <a:lnSpc>
                <a:spcPts val="3242"/>
              </a:lnSpc>
            </a:pPr>
            <a:r>
              <a:rPr lang="en-US" sz="3002">
                <a:solidFill>
                  <a:srgbClr val="000000"/>
                </a:solidFill>
                <a:latin typeface="Century Gothic Paneuropean"/>
                <a:ea typeface="Century Gothic Paneuropean"/>
                <a:cs typeface="Century Gothic Paneuropean"/>
                <a:sym typeface="Century Gothic Paneuropean"/>
              </a:rPr>
              <a:t>Schools and Colleges</a:t>
            </a:r>
          </a:p>
        </p:txBody>
      </p:sp>
      <p:sp>
        <p:nvSpPr>
          <p:cNvPr id="10" name="AutoShape 10"/>
          <p:cNvSpPr/>
          <p:nvPr/>
        </p:nvSpPr>
        <p:spPr>
          <a:xfrm rot="9780">
            <a:off x="10808160" y="4410427"/>
            <a:ext cx="6694856" cy="0"/>
          </a:xfrm>
          <a:prstGeom prst="line">
            <a:avLst/>
          </a:prstGeom>
          <a:ln w="9525" cap="rnd">
            <a:solidFill>
              <a:srgbClr val="629DD1"/>
            </a:solidFill>
            <a:prstDash val="solid"/>
            <a:headEnd type="none" w="sm" len="sm"/>
            <a:tailEnd type="none" w="sm" len="sm"/>
          </a:ln>
        </p:spPr>
        <p:txBody>
          <a:bodyPr/>
          <a:lstStyle/>
          <a:p>
            <a:endParaRPr lang="en-IN"/>
          </a:p>
        </p:txBody>
      </p:sp>
      <p:sp>
        <p:nvSpPr>
          <p:cNvPr id="11" name="TextBox 11"/>
          <p:cNvSpPr txBox="1"/>
          <p:nvPr/>
        </p:nvSpPr>
        <p:spPr>
          <a:xfrm>
            <a:off x="11014310" y="4571552"/>
            <a:ext cx="6407734" cy="755704"/>
          </a:xfrm>
          <a:prstGeom prst="rect">
            <a:avLst/>
          </a:prstGeom>
        </p:spPr>
        <p:txBody>
          <a:bodyPr lIns="0" tIns="0" rIns="0" bIns="0" rtlCol="0" anchor="t">
            <a:spAutoFit/>
          </a:bodyPr>
          <a:lstStyle/>
          <a:p>
            <a:pPr algn="l">
              <a:lnSpc>
                <a:spcPts val="3242"/>
              </a:lnSpc>
            </a:pPr>
            <a:r>
              <a:rPr lang="en-US" sz="3002">
                <a:solidFill>
                  <a:srgbClr val="000000"/>
                </a:solidFill>
                <a:latin typeface="Century Gothic Paneuropean"/>
                <a:ea typeface="Century Gothic Paneuropean"/>
                <a:cs typeface="Century Gothic Paneuropean"/>
                <a:sym typeface="Century Gothic Paneuropean"/>
              </a:rPr>
              <a:t>Universities</a:t>
            </a:r>
          </a:p>
        </p:txBody>
      </p:sp>
      <p:sp>
        <p:nvSpPr>
          <p:cNvPr id="12" name="AutoShape 12"/>
          <p:cNvSpPr/>
          <p:nvPr/>
        </p:nvSpPr>
        <p:spPr>
          <a:xfrm rot="9780">
            <a:off x="10808160" y="5393931"/>
            <a:ext cx="6694856" cy="0"/>
          </a:xfrm>
          <a:prstGeom prst="line">
            <a:avLst/>
          </a:prstGeom>
          <a:ln w="9525" cap="rnd">
            <a:solidFill>
              <a:srgbClr val="629DD1"/>
            </a:solidFill>
            <a:prstDash val="solid"/>
            <a:headEnd type="none" w="sm" len="sm"/>
            <a:tailEnd type="none" w="sm" len="sm"/>
          </a:ln>
        </p:spPr>
        <p:txBody>
          <a:bodyPr/>
          <a:lstStyle/>
          <a:p>
            <a:endParaRPr lang="en-IN"/>
          </a:p>
        </p:txBody>
      </p:sp>
      <p:sp>
        <p:nvSpPr>
          <p:cNvPr id="13" name="TextBox 13"/>
          <p:cNvSpPr txBox="1"/>
          <p:nvPr/>
        </p:nvSpPr>
        <p:spPr>
          <a:xfrm>
            <a:off x="11014310" y="5555066"/>
            <a:ext cx="6407734" cy="755704"/>
          </a:xfrm>
          <a:prstGeom prst="rect">
            <a:avLst/>
          </a:prstGeom>
        </p:spPr>
        <p:txBody>
          <a:bodyPr lIns="0" tIns="0" rIns="0" bIns="0" rtlCol="0" anchor="t">
            <a:spAutoFit/>
          </a:bodyPr>
          <a:lstStyle/>
          <a:p>
            <a:pPr algn="l">
              <a:lnSpc>
                <a:spcPts val="3242"/>
              </a:lnSpc>
            </a:pPr>
            <a:r>
              <a:rPr lang="en-US" sz="3002">
                <a:solidFill>
                  <a:srgbClr val="000000"/>
                </a:solidFill>
                <a:latin typeface="Century Gothic Paneuropean"/>
                <a:ea typeface="Century Gothic Paneuropean"/>
                <a:cs typeface="Century Gothic Paneuropean"/>
                <a:sym typeface="Century Gothic Paneuropean"/>
              </a:rPr>
              <a:t>Online Learning Platforms</a:t>
            </a:r>
          </a:p>
        </p:txBody>
      </p:sp>
      <p:sp>
        <p:nvSpPr>
          <p:cNvPr id="14" name="AutoShape 14"/>
          <p:cNvSpPr/>
          <p:nvPr/>
        </p:nvSpPr>
        <p:spPr>
          <a:xfrm rot="9780">
            <a:off x="10808160" y="6377445"/>
            <a:ext cx="6694856" cy="0"/>
          </a:xfrm>
          <a:prstGeom prst="line">
            <a:avLst/>
          </a:prstGeom>
          <a:ln w="9525" cap="rnd">
            <a:solidFill>
              <a:srgbClr val="629DD1"/>
            </a:solidFill>
            <a:prstDash val="solid"/>
            <a:headEnd type="none" w="sm" len="sm"/>
            <a:tailEnd type="none" w="sm" len="sm"/>
          </a:ln>
        </p:spPr>
        <p:txBody>
          <a:bodyPr/>
          <a:lstStyle/>
          <a:p>
            <a:endParaRPr lang="en-IN"/>
          </a:p>
        </p:txBody>
      </p:sp>
      <p:sp>
        <p:nvSpPr>
          <p:cNvPr id="15" name="TextBox 15"/>
          <p:cNvSpPr txBox="1"/>
          <p:nvPr/>
        </p:nvSpPr>
        <p:spPr>
          <a:xfrm>
            <a:off x="11014310" y="6538570"/>
            <a:ext cx="6407734" cy="755704"/>
          </a:xfrm>
          <a:prstGeom prst="rect">
            <a:avLst/>
          </a:prstGeom>
        </p:spPr>
        <p:txBody>
          <a:bodyPr lIns="0" tIns="0" rIns="0" bIns="0" rtlCol="0" anchor="t">
            <a:spAutoFit/>
          </a:bodyPr>
          <a:lstStyle/>
          <a:p>
            <a:pPr algn="l">
              <a:lnSpc>
                <a:spcPts val="3242"/>
              </a:lnSpc>
            </a:pPr>
            <a:r>
              <a:rPr lang="en-US" sz="3002">
                <a:solidFill>
                  <a:srgbClr val="000000"/>
                </a:solidFill>
                <a:latin typeface="Century Gothic Paneuropean"/>
                <a:ea typeface="Century Gothic Paneuropean"/>
                <a:cs typeface="Century Gothic Paneuropean"/>
                <a:sym typeface="Century Gothic Paneuropean"/>
              </a:rPr>
              <a:t>Corporate Training Programs</a:t>
            </a:r>
          </a:p>
        </p:txBody>
      </p:sp>
      <p:sp>
        <p:nvSpPr>
          <p:cNvPr id="16" name="AutoShape 16"/>
          <p:cNvSpPr/>
          <p:nvPr/>
        </p:nvSpPr>
        <p:spPr>
          <a:xfrm rot="9780">
            <a:off x="10808160" y="7360949"/>
            <a:ext cx="6694856" cy="0"/>
          </a:xfrm>
          <a:prstGeom prst="line">
            <a:avLst/>
          </a:prstGeom>
          <a:ln w="9525" cap="rnd">
            <a:solidFill>
              <a:srgbClr val="629DD1"/>
            </a:solidFill>
            <a:prstDash val="solid"/>
            <a:headEnd type="none" w="sm" len="sm"/>
            <a:tailEnd type="none" w="sm" len="sm"/>
          </a:ln>
        </p:spPr>
        <p:txBody>
          <a:bodyPr/>
          <a:lstStyle/>
          <a:p>
            <a:endParaRPr lang="en-IN"/>
          </a:p>
        </p:txBody>
      </p:sp>
      <p:sp>
        <p:nvSpPr>
          <p:cNvPr id="17" name="TextBox 17"/>
          <p:cNvSpPr txBox="1"/>
          <p:nvPr/>
        </p:nvSpPr>
        <p:spPr>
          <a:xfrm>
            <a:off x="11014310" y="7522083"/>
            <a:ext cx="6407734" cy="755704"/>
          </a:xfrm>
          <a:prstGeom prst="rect">
            <a:avLst/>
          </a:prstGeom>
        </p:spPr>
        <p:txBody>
          <a:bodyPr lIns="0" tIns="0" rIns="0" bIns="0" rtlCol="0" anchor="t">
            <a:spAutoFit/>
          </a:bodyPr>
          <a:lstStyle/>
          <a:p>
            <a:pPr algn="l">
              <a:lnSpc>
                <a:spcPts val="3242"/>
              </a:lnSpc>
            </a:pPr>
            <a:r>
              <a:rPr lang="en-US" sz="3002">
                <a:solidFill>
                  <a:srgbClr val="000000"/>
                </a:solidFill>
                <a:latin typeface="Century Gothic Paneuropean"/>
                <a:ea typeface="Century Gothic Paneuropean"/>
                <a:cs typeface="Century Gothic Paneuropean"/>
                <a:sym typeface="Century Gothic Paneuropean"/>
              </a:rPr>
              <a:t>Certification Exams</a:t>
            </a:r>
          </a:p>
        </p:txBody>
      </p:sp>
      <p:sp>
        <p:nvSpPr>
          <p:cNvPr id="18" name="AutoShape 18"/>
          <p:cNvSpPr/>
          <p:nvPr/>
        </p:nvSpPr>
        <p:spPr>
          <a:xfrm rot="9780">
            <a:off x="10808160" y="8344462"/>
            <a:ext cx="6694856" cy="0"/>
          </a:xfrm>
          <a:prstGeom prst="line">
            <a:avLst/>
          </a:prstGeom>
          <a:ln w="9525" cap="rnd">
            <a:solidFill>
              <a:srgbClr val="629DD1"/>
            </a:solidFill>
            <a:prstDash val="solid"/>
            <a:headEnd type="none" w="sm" len="sm"/>
            <a:tailEnd type="none" w="sm" len="sm"/>
          </a:ln>
        </p:spPr>
        <p:txBody>
          <a:bodyPr/>
          <a:lstStyle/>
          <a:p>
            <a:endParaRPr lang="en-IN"/>
          </a:p>
        </p:txBody>
      </p:sp>
      <p:sp>
        <p:nvSpPr>
          <p:cNvPr id="19" name="TextBox 19"/>
          <p:cNvSpPr txBox="1"/>
          <p:nvPr/>
        </p:nvSpPr>
        <p:spPr>
          <a:xfrm>
            <a:off x="11014310" y="8505587"/>
            <a:ext cx="6407734" cy="755704"/>
          </a:xfrm>
          <a:prstGeom prst="rect">
            <a:avLst/>
          </a:prstGeom>
        </p:spPr>
        <p:txBody>
          <a:bodyPr lIns="0" tIns="0" rIns="0" bIns="0" rtlCol="0" anchor="t">
            <a:spAutoFit/>
          </a:bodyPr>
          <a:lstStyle/>
          <a:p>
            <a:pPr algn="l">
              <a:lnSpc>
                <a:spcPts val="3242"/>
              </a:lnSpc>
            </a:pPr>
            <a:r>
              <a:rPr lang="en-US" sz="3002">
                <a:solidFill>
                  <a:srgbClr val="000000"/>
                </a:solidFill>
                <a:latin typeface="Century Gothic Paneuropean"/>
                <a:ea typeface="Century Gothic Paneuropean"/>
                <a:cs typeface="Century Gothic Paneuropean"/>
                <a:sym typeface="Century Gothic Paneuropean"/>
              </a:rPr>
              <a:t>Recruitment and Placement Tests</a:t>
            </a:r>
          </a:p>
        </p:txBody>
      </p:sp>
      <p:sp>
        <p:nvSpPr>
          <p:cNvPr id="20" name="AutoShape 20"/>
          <p:cNvSpPr/>
          <p:nvPr/>
        </p:nvSpPr>
        <p:spPr>
          <a:xfrm rot="9780">
            <a:off x="10808160" y="9327966"/>
            <a:ext cx="6694856" cy="0"/>
          </a:xfrm>
          <a:prstGeom prst="line">
            <a:avLst/>
          </a:prstGeom>
          <a:ln w="9525" cap="rnd">
            <a:solidFill>
              <a:srgbClr val="629DD1"/>
            </a:solidFill>
            <a:prstDash val="solid"/>
            <a:headEnd type="none" w="sm" len="sm"/>
            <a:tailEnd type="none" w="sm" len="sm"/>
          </a:ln>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48916" y="0"/>
            <a:ext cx="3348619" cy="2974124"/>
          </a:xfrm>
          <a:custGeom>
            <a:avLst/>
            <a:gdLst/>
            <a:ahLst/>
            <a:cxnLst/>
            <a:rect l="l" t="t" r="r" b="b"/>
            <a:pathLst>
              <a:path w="3348619" h="2974124">
                <a:moveTo>
                  <a:pt x="0" y="0"/>
                </a:moveTo>
                <a:lnTo>
                  <a:pt x="3348619" y="0"/>
                </a:lnTo>
                <a:lnTo>
                  <a:pt x="3348619" y="2974124"/>
                </a:lnTo>
                <a:lnTo>
                  <a:pt x="0" y="29741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a:off x="0" y="0"/>
            <a:ext cx="1141514" cy="10295039"/>
            <a:chOff x="0" y="0"/>
            <a:chExt cx="1522019" cy="13726719"/>
          </a:xfrm>
        </p:grpSpPr>
        <p:sp>
          <p:nvSpPr>
            <p:cNvPr id="4" name="Freeform 4"/>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5" name="Freeform 5"/>
          <p:cNvSpPr/>
          <p:nvPr/>
        </p:nvSpPr>
        <p:spPr>
          <a:xfrm>
            <a:off x="11779720" y="571948"/>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6" name="Freeform 6"/>
          <p:cNvSpPr/>
          <p:nvPr/>
        </p:nvSpPr>
        <p:spPr>
          <a:xfrm>
            <a:off x="12849568" y="1601448"/>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7146786" y="987419"/>
            <a:ext cx="7195233" cy="1986705"/>
          </a:xfrm>
          <a:prstGeom prst="rect">
            <a:avLst/>
          </a:prstGeom>
        </p:spPr>
        <p:txBody>
          <a:bodyPr lIns="0" tIns="0" rIns="0" bIns="0" rtlCol="0" anchor="t">
            <a:spAutoFit/>
          </a:bodyPr>
          <a:lstStyle/>
          <a:p>
            <a:pPr algn="l">
              <a:lnSpc>
                <a:spcPts val="4611"/>
              </a:lnSpc>
            </a:pPr>
            <a:r>
              <a:rPr lang="en-US" sz="4803" b="1" spc="86">
                <a:solidFill>
                  <a:srgbClr val="262626"/>
                </a:solidFill>
                <a:latin typeface="Baskerville Display PT Bold"/>
                <a:ea typeface="Baskerville Display PT Bold"/>
                <a:cs typeface="Baskerville Display PT Bold"/>
                <a:sym typeface="Baskerville Display PT Bold"/>
              </a:rPr>
              <a:t>Conclusion</a:t>
            </a:r>
          </a:p>
        </p:txBody>
      </p:sp>
      <p:sp>
        <p:nvSpPr>
          <p:cNvPr id="9" name="TextBox 8">
            <a:extLst>
              <a:ext uri="{FF2B5EF4-FFF2-40B4-BE49-F238E27FC236}">
                <a16:creationId xmlns:a16="http://schemas.microsoft.com/office/drawing/2014/main" id="{D23A024A-3ECA-0338-1E3C-D9EEC5DC6790}"/>
              </a:ext>
            </a:extLst>
          </p:cNvPr>
          <p:cNvSpPr txBox="1"/>
          <p:nvPr/>
        </p:nvSpPr>
        <p:spPr>
          <a:xfrm>
            <a:off x="838200" y="2016919"/>
            <a:ext cx="15240000" cy="7048083"/>
          </a:xfrm>
          <a:prstGeom prst="rect">
            <a:avLst/>
          </a:prstGeom>
          <a:noFill/>
        </p:spPr>
        <p:txBody>
          <a:bodyPr wrap="square" rtlCol="0">
            <a:spAutoFit/>
          </a:bodyPr>
          <a:lstStyle/>
          <a:p>
            <a:endParaRPr lang="en-US" dirty="0"/>
          </a:p>
          <a:p>
            <a:endParaRPr lang="en-US" dirty="0"/>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Improves the performance and reliability of the virtual quiz portal.</a:t>
            </a:r>
          </a:p>
          <a:p>
            <a:pPr marL="457200" indent="-457200">
              <a:buFont typeface="Arial" panose="020B0604020202020204" pitchFamily="34" charset="0"/>
              <a:buChar char="•"/>
            </a:pPr>
            <a:endParaRPr lang="en-US" sz="3200" dirty="0">
              <a:latin typeface="Baskerville Display PT" panose="020B0604020202020204" charset="0"/>
              <a:ea typeface="Baskerville Display PT" panose="020B0604020202020204" charset="0"/>
            </a:endParaRPr>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Identifies server overload and performance issues during high user traffic.</a:t>
            </a:r>
          </a:p>
          <a:p>
            <a:pPr marL="457200" indent="-457200">
              <a:buFont typeface="Arial" panose="020B0604020202020204" pitchFamily="34" charset="0"/>
              <a:buChar char="•"/>
            </a:pPr>
            <a:endParaRPr lang="en-US" sz="3200" dirty="0">
              <a:latin typeface="Baskerville Display PT" panose="020B0604020202020204" charset="0"/>
              <a:ea typeface="Baskerville Display PT" panose="020B0604020202020204" charset="0"/>
            </a:endParaRPr>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Reduces response time and system errors.</a:t>
            </a:r>
          </a:p>
          <a:p>
            <a:pPr marL="457200" indent="-457200">
              <a:buFont typeface="Arial" panose="020B0604020202020204" pitchFamily="34" charset="0"/>
              <a:buChar char="•"/>
            </a:pPr>
            <a:endParaRPr lang="en-US" sz="3200" dirty="0">
              <a:latin typeface="Baskerville Display PT" panose="020B0604020202020204" charset="0"/>
              <a:ea typeface="Baskerville Display PT" panose="020B0604020202020204" charset="0"/>
            </a:endParaRPr>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Monitors important parameters such as users, response time, and error rate.</a:t>
            </a:r>
          </a:p>
          <a:p>
            <a:pPr marL="457200" indent="-457200">
              <a:buFont typeface="Arial" panose="020B0604020202020204" pitchFamily="34" charset="0"/>
              <a:buChar char="•"/>
            </a:pPr>
            <a:endParaRPr lang="en-US" sz="3200" dirty="0">
              <a:latin typeface="Baskerville Display PT" panose="020B0604020202020204" charset="0"/>
              <a:ea typeface="Baskerville Display PT" panose="020B0604020202020204" charset="0"/>
            </a:endParaRPr>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Provides useful analytics and reports for administrators.</a:t>
            </a:r>
          </a:p>
          <a:p>
            <a:pPr marL="457200" indent="-457200">
              <a:buFont typeface="Arial" panose="020B0604020202020204" pitchFamily="34" charset="0"/>
              <a:buChar char="•"/>
            </a:pPr>
            <a:endParaRPr lang="en-US" sz="3200" dirty="0">
              <a:latin typeface="Baskerville Display PT" panose="020B0604020202020204" charset="0"/>
              <a:ea typeface="Baskerville Display PT" panose="020B0604020202020204" charset="0"/>
            </a:endParaRPr>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Helps identify performance bottlenecks before deployment.</a:t>
            </a:r>
          </a:p>
          <a:p>
            <a:pPr marL="457200" indent="-457200">
              <a:buFont typeface="Arial" panose="020B0604020202020204" pitchFamily="34" charset="0"/>
              <a:buChar char="•"/>
            </a:pPr>
            <a:endParaRPr lang="en-US" sz="3200" dirty="0">
              <a:latin typeface="Baskerville Display PT" panose="020B0604020202020204" charset="0"/>
              <a:ea typeface="Baskerville Display PT" panose="020B0604020202020204" charset="0"/>
            </a:endParaRPr>
          </a:p>
          <a:p>
            <a:pPr marL="457200" indent="-457200">
              <a:buFont typeface="Arial" panose="020B0604020202020204" pitchFamily="34" charset="0"/>
              <a:buChar char="•"/>
            </a:pPr>
            <a:r>
              <a:rPr lang="en-US" sz="3200" dirty="0">
                <a:latin typeface="Baskerville Display PT" panose="020B0604020202020204" charset="0"/>
                <a:ea typeface="Baskerville Display PT" panose="020B0604020202020204" charset="0"/>
              </a:rPr>
              <a:t>Ensures a stable, efficient, and user-friendly quiz system</a:t>
            </a:r>
            <a:r>
              <a:rPr lang="en-US" dirty="0"/>
              <a:t>.</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141514" cy="10295039"/>
            <a:chOff x="0" y="0"/>
            <a:chExt cx="1522019" cy="13726719"/>
          </a:xfrm>
        </p:grpSpPr>
        <p:sp>
          <p:nvSpPr>
            <p:cNvPr id="3" name="Freeform 3"/>
            <p:cNvSpPr/>
            <p:nvPr/>
          </p:nvSpPr>
          <p:spPr>
            <a:xfrm>
              <a:off x="0" y="0"/>
              <a:ext cx="1521968" cy="13726668"/>
            </a:xfrm>
            <a:custGeom>
              <a:avLst/>
              <a:gdLst/>
              <a:ahLst/>
              <a:cxnLst/>
              <a:rect l="l" t="t" r="r" b="b"/>
              <a:pathLst>
                <a:path w="1521968" h="13726668">
                  <a:moveTo>
                    <a:pt x="0" y="0"/>
                  </a:moveTo>
                  <a:lnTo>
                    <a:pt x="1521968" y="0"/>
                  </a:lnTo>
                  <a:lnTo>
                    <a:pt x="1521968" y="13726668"/>
                  </a:lnTo>
                  <a:lnTo>
                    <a:pt x="0" y="13726668"/>
                  </a:lnTo>
                  <a:close/>
                </a:path>
              </a:pathLst>
            </a:custGeom>
            <a:solidFill>
              <a:srgbClr val="FFFFFF"/>
            </a:solidFill>
          </p:spPr>
          <p:txBody>
            <a:bodyPr/>
            <a:lstStyle/>
            <a:p>
              <a:endParaRPr lang="en-IN"/>
            </a:p>
          </p:txBody>
        </p:sp>
      </p:grpSp>
      <p:sp>
        <p:nvSpPr>
          <p:cNvPr id="4" name="TextBox 4"/>
          <p:cNvSpPr txBox="1"/>
          <p:nvPr/>
        </p:nvSpPr>
        <p:spPr>
          <a:xfrm>
            <a:off x="6416664" y="953062"/>
            <a:ext cx="16029784" cy="1014403"/>
          </a:xfrm>
          <a:prstGeom prst="rect">
            <a:avLst/>
          </a:prstGeom>
        </p:spPr>
        <p:txBody>
          <a:bodyPr lIns="0" tIns="0" rIns="0" bIns="0" rtlCol="0" anchor="t">
            <a:spAutoFit/>
          </a:bodyPr>
          <a:lstStyle/>
          <a:p>
            <a:pPr algn="l">
              <a:lnSpc>
                <a:spcPts val="4611"/>
              </a:lnSpc>
            </a:pPr>
            <a:r>
              <a:rPr lang="en-US" sz="4803" b="1" spc="86">
                <a:solidFill>
                  <a:srgbClr val="262626"/>
                </a:solidFill>
                <a:latin typeface="Baskerville Display PT Bold"/>
                <a:ea typeface="Baskerville Display PT Bold"/>
                <a:cs typeface="Baskerville Display PT Bold"/>
                <a:sym typeface="Baskerville Display PT Bold"/>
              </a:rPr>
              <a:t>REFERENCES</a:t>
            </a:r>
          </a:p>
        </p:txBody>
      </p:sp>
      <p:sp>
        <p:nvSpPr>
          <p:cNvPr id="5" name="TextBox 5"/>
          <p:cNvSpPr txBox="1"/>
          <p:nvPr/>
        </p:nvSpPr>
        <p:spPr>
          <a:xfrm>
            <a:off x="1120940" y="1967465"/>
            <a:ext cx="16029784" cy="6619761"/>
          </a:xfrm>
          <a:prstGeom prst="rect">
            <a:avLst/>
          </a:prstGeom>
        </p:spPr>
        <p:txBody>
          <a:bodyPr lIns="0" tIns="0" rIns="0" bIns="0" rtlCol="0" anchor="t">
            <a:spAutoFit/>
          </a:bodyPr>
          <a:lstStyle/>
          <a:p>
            <a:pPr algn="l">
              <a:lnSpc>
                <a:spcPts val="4338"/>
              </a:lnSpc>
            </a:pPr>
            <a:endParaRPr dirty="0"/>
          </a:p>
          <a:p>
            <a:pPr marL="759649" lvl="1" indent="-379824" algn="l">
              <a:lnSpc>
                <a:spcPts val="4338"/>
              </a:lnSpc>
              <a:buFont typeface="Arial"/>
              <a:buChar char="•"/>
            </a:pPr>
            <a:r>
              <a:rPr lang="en-US" sz="3651" spc="65" dirty="0">
                <a:solidFill>
                  <a:srgbClr val="262626"/>
                </a:solidFill>
                <a:latin typeface="Baskerville Display PT"/>
                <a:ea typeface="Baskerville Display PT"/>
                <a:cs typeface="Baskerville Display PT"/>
                <a:sym typeface="Baskerville Display PT"/>
              </a:rPr>
              <a:t>Python Software Foundation, "Python Socket Programming Documentation.“</a:t>
            </a:r>
          </a:p>
          <a:p>
            <a:pPr marL="759649" lvl="1" indent="-379824" algn="l">
              <a:lnSpc>
                <a:spcPts val="4338"/>
              </a:lnSpc>
              <a:buFont typeface="Arial"/>
              <a:buChar char="•"/>
            </a:pPr>
            <a:endParaRPr lang="en-US" sz="3651" spc="65" dirty="0">
              <a:solidFill>
                <a:srgbClr val="262626"/>
              </a:solidFill>
              <a:latin typeface="Baskerville Display PT"/>
              <a:ea typeface="Baskerville Display PT"/>
              <a:cs typeface="Baskerville Display PT"/>
              <a:sym typeface="Baskerville Display PT"/>
            </a:endParaRPr>
          </a:p>
          <a:p>
            <a:pPr marL="759649" lvl="1" indent="-379824" algn="l">
              <a:lnSpc>
                <a:spcPts val="4338"/>
              </a:lnSpc>
              <a:buFont typeface="Arial"/>
              <a:buChar char="•"/>
            </a:pPr>
            <a:r>
              <a:rPr lang="en-US" sz="3651" spc="65" dirty="0">
                <a:solidFill>
                  <a:srgbClr val="262626"/>
                </a:solidFill>
                <a:latin typeface="Baskerville Display PT"/>
                <a:ea typeface="Baskerville Display PT"/>
                <a:cs typeface="Baskerville Display PT"/>
                <a:sym typeface="Baskerville Display PT"/>
              </a:rPr>
              <a:t>IEEE research papers on client–server architectures for online examination systems.</a:t>
            </a:r>
          </a:p>
          <a:p>
            <a:pPr marL="759649" lvl="1" indent="-379824" algn="l">
              <a:lnSpc>
                <a:spcPts val="4338"/>
              </a:lnSpc>
              <a:buFont typeface="Arial"/>
              <a:buChar char="•"/>
            </a:pPr>
            <a:endParaRPr lang="en-US" sz="3651" spc="65" dirty="0">
              <a:solidFill>
                <a:srgbClr val="262626"/>
              </a:solidFill>
              <a:latin typeface="Baskerville Display PT"/>
              <a:ea typeface="Baskerville Display PT"/>
              <a:cs typeface="Baskerville Display PT"/>
              <a:sym typeface="Baskerville Display PT"/>
            </a:endParaRPr>
          </a:p>
          <a:p>
            <a:pPr marL="759649" lvl="1" indent="-379824" algn="l">
              <a:lnSpc>
                <a:spcPts val="4338"/>
              </a:lnSpc>
              <a:buFont typeface="Arial"/>
              <a:buChar char="•"/>
            </a:pPr>
            <a:r>
              <a:rPr lang="en-US" sz="3651" spc="65" dirty="0">
                <a:solidFill>
                  <a:srgbClr val="262626"/>
                </a:solidFill>
                <a:latin typeface="Baskerville Display PT"/>
                <a:ea typeface="Baskerville Display PT"/>
                <a:cs typeface="Baskerville Display PT"/>
                <a:sym typeface="Baskerville Display PT"/>
              </a:rPr>
              <a:t>Documentation on multi-threaded server design and concurrency in Python.</a:t>
            </a:r>
          </a:p>
          <a:p>
            <a:pPr marL="759649" lvl="1" indent="-379824" algn="l">
              <a:lnSpc>
                <a:spcPts val="4338"/>
              </a:lnSpc>
              <a:buFont typeface="Arial"/>
              <a:buChar char="•"/>
            </a:pPr>
            <a:endParaRPr lang="en-US" sz="3651" spc="65" dirty="0">
              <a:solidFill>
                <a:srgbClr val="262626"/>
              </a:solidFill>
              <a:latin typeface="Baskerville Display PT"/>
              <a:ea typeface="Baskerville Display PT"/>
              <a:cs typeface="Baskerville Display PT"/>
              <a:sym typeface="Baskerville Display PT"/>
            </a:endParaRPr>
          </a:p>
          <a:p>
            <a:pPr marL="759649" lvl="1" indent="-379824" algn="l">
              <a:lnSpc>
                <a:spcPts val="4338"/>
              </a:lnSpc>
              <a:buFont typeface="Arial"/>
              <a:buChar char="•"/>
            </a:pPr>
            <a:r>
              <a:rPr lang="en-US" sz="3651" spc="65" dirty="0">
                <a:solidFill>
                  <a:srgbClr val="262626"/>
                </a:solidFill>
                <a:latin typeface="Baskerville Display PT"/>
                <a:ea typeface="Baskerville Display PT"/>
                <a:cs typeface="Baskerville Display PT"/>
                <a:sym typeface="Baskerville Display PT"/>
              </a:rPr>
              <a:t>Standard references on load testing and performance analysis methodologies.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C8D9ED">
                <a:alpha val="0"/>
              </a:srgbClr>
            </a:gs>
            <a:gs pos="100000">
              <a:srgbClr val="ACCBF9">
                <a:alpha val="100000"/>
              </a:srgbClr>
            </a:gs>
          </a:gsLst>
          <a:lin ang="5400000"/>
        </a:gradFill>
        <a:effectLst/>
      </p:bgPr>
    </p:bg>
    <p:spTree>
      <p:nvGrpSpPr>
        <p:cNvPr id="1" name=""/>
        <p:cNvGrpSpPr/>
        <p:nvPr/>
      </p:nvGrpSpPr>
      <p:grpSpPr>
        <a:xfrm>
          <a:off x="0" y="0"/>
          <a:ext cx="0" cy="0"/>
          <a:chOff x="0" y="0"/>
          <a:chExt cx="0" cy="0"/>
        </a:xfrm>
      </p:grpSpPr>
      <p:grpSp>
        <p:nvGrpSpPr>
          <p:cNvPr id="2" name="Group 2"/>
          <p:cNvGrpSpPr/>
          <p:nvPr/>
        </p:nvGrpSpPr>
        <p:grpSpPr>
          <a:xfrm>
            <a:off x="4916357" y="0"/>
            <a:ext cx="13381168" cy="10309241"/>
            <a:chOff x="0" y="0"/>
            <a:chExt cx="17841557" cy="13745654"/>
          </a:xfrm>
        </p:grpSpPr>
        <p:sp>
          <p:nvSpPr>
            <p:cNvPr id="3" name="Freeform 3" descr="A white circles on a black background  Description automatically generated"/>
            <p:cNvSpPr/>
            <p:nvPr/>
          </p:nvSpPr>
          <p:spPr>
            <a:xfrm>
              <a:off x="0" y="0"/>
              <a:ext cx="17841595" cy="13745590"/>
            </a:xfrm>
            <a:custGeom>
              <a:avLst/>
              <a:gdLst/>
              <a:ahLst/>
              <a:cxnLst/>
              <a:rect l="l" t="t" r="r" b="b"/>
              <a:pathLst>
                <a:path w="17841595" h="13745590">
                  <a:moveTo>
                    <a:pt x="0" y="0"/>
                  </a:moveTo>
                  <a:lnTo>
                    <a:pt x="17841595" y="0"/>
                  </a:lnTo>
                  <a:lnTo>
                    <a:pt x="17841595" y="13745590"/>
                  </a:lnTo>
                  <a:lnTo>
                    <a:pt x="0" y="13745590"/>
                  </a:lnTo>
                  <a:lnTo>
                    <a:pt x="0" y="0"/>
                  </a:lnTo>
                  <a:close/>
                </a:path>
              </a:pathLst>
            </a:custGeom>
            <a:blipFill>
              <a:blip r:embed="rId2"/>
              <a:stretch>
                <a:fillRect t="-15534" r="-4280" b="-19500"/>
              </a:stretch>
            </a:blipFill>
          </p:spPr>
          <p:txBody>
            <a:bodyPr/>
            <a:lstStyle/>
            <a:p>
              <a:endParaRPr lang="en-IN"/>
            </a:p>
          </p:txBody>
        </p:sp>
      </p:grpSp>
      <p:sp>
        <p:nvSpPr>
          <p:cNvPr id="4" name="Freeform 4"/>
          <p:cNvSpPr/>
          <p:nvPr/>
        </p:nvSpPr>
        <p:spPr>
          <a:xfrm>
            <a:off x="16476221" y="7486507"/>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Freeform 5"/>
          <p:cNvSpPr/>
          <p:nvPr/>
        </p:nvSpPr>
        <p:spPr>
          <a:xfrm>
            <a:off x="15189956" y="5376301"/>
            <a:ext cx="1029500" cy="1029500"/>
          </a:xfrm>
          <a:custGeom>
            <a:avLst/>
            <a:gdLst/>
            <a:ahLst/>
            <a:cxnLst/>
            <a:rect l="l" t="t" r="r" b="b"/>
            <a:pathLst>
              <a:path w="1029500" h="1029500">
                <a:moveTo>
                  <a:pt x="0" y="0"/>
                </a:moveTo>
                <a:lnTo>
                  <a:pt x="1029500" y="0"/>
                </a:lnTo>
                <a:lnTo>
                  <a:pt x="1029500" y="1029500"/>
                </a:lnTo>
                <a:lnTo>
                  <a:pt x="0" y="10295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6" name="Group 6"/>
          <p:cNvGrpSpPr/>
          <p:nvPr/>
        </p:nvGrpSpPr>
        <p:grpSpPr>
          <a:xfrm>
            <a:off x="1027119" y="1944614"/>
            <a:ext cx="15442568" cy="3851481"/>
            <a:chOff x="0" y="0"/>
            <a:chExt cx="20590091" cy="5135308"/>
          </a:xfrm>
        </p:grpSpPr>
        <p:sp>
          <p:nvSpPr>
            <p:cNvPr id="7" name="Freeform 7"/>
            <p:cNvSpPr/>
            <p:nvPr/>
          </p:nvSpPr>
          <p:spPr>
            <a:xfrm>
              <a:off x="0" y="0"/>
              <a:ext cx="20590086" cy="5135308"/>
            </a:xfrm>
            <a:custGeom>
              <a:avLst/>
              <a:gdLst/>
              <a:ahLst/>
              <a:cxnLst/>
              <a:rect l="l" t="t" r="r" b="b"/>
              <a:pathLst>
                <a:path w="20590086" h="5135308">
                  <a:moveTo>
                    <a:pt x="0" y="0"/>
                  </a:moveTo>
                  <a:lnTo>
                    <a:pt x="20590086" y="0"/>
                  </a:lnTo>
                  <a:lnTo>
                    <a:pt x="20590086" y="5135308"/>
                  </a:lnTo>
                  <a:lnTo>
                    <a:pt x="0" y="5135308"/>
                  </a:lnTo>
                  <a:close/>
                </a:path>
              </a:pathLst>
            </a:custGeom>
            <a:blipFill>
              <a:blip r:embed="rId4">
                <a:alphaModFix amt="0"/>
              </a:blip>
              <a:stretch>
                <a:fillRect t="-28125" b="-28125"/>
              </a:stretch>
            </a:blipFill>
          </p:spPr>
          <p:txBody>
            <a:bodyPr/>
            <a:lstStyle/>
            <a:p>
              <a:endParaRPr lang="en-IN"/>
            </a:p>
          </p:txBody>
        </p:sp>
        <p:sp>
          <p:nvSpPr>
            <p:cNvPr id="8" name="TextBox 8"/>
            <p:cNvSpPr txBox="1"/>
            <p:nvPr/>
          </p:nvSpPr>
          <p:spPr>
            <a:xfrm>
              <a:off x="0" y="0"/>
              <a:ext cx="20590091" cy="5135308"/>
            </a:xfrm>
            <a:prstGeom prst="rect">
              <a:avLst/>
            </a:prstGeom>
          </p:spPr>
          <p:txBody>
            <a:bodyPr lIns="0" tIns="0" rIns="0" bIns="0" rtlCol="0" anchor="b"/>
            <a:lstStyle/>
            <a:p>
              <a:pPr algn="l">
                <a:lnSpc>
                  <a:spcPts val="11889"/>
                </a:lnSpc>
              </a:pPr>
              <a:r>
                <a:rPr lang="en-US" sz="9907" b="1" spc="178" dirty="0">
                  <a:solidFill>
                    <a:srgbClr val="262626"/>
                  </a:solidFill>
                  <a:latin typeface="Baskerville Display PT Bold"/>
                  <a:ea typeface="Baskerville Display PT Bold"/>
                  <a:cs typeface="Baskerville Display PT Bold"/>
                  <a:sym typeface="Baskerville Display PT Bold"/>
                </a:rPr>
                <a:t>             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1199</Words>
  <Application>Microsoft Office PowerPoint</Application>
  <PresentationFormat>Custom</PresentationFormat>
  <Paragraphs>223</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Century Gothic Paneuropean</vt:lpstr>
      <vt:lpstr>Century Gothic Paneuropean Bold</vt:lpstr>
      <vt:lpstr>Arabic Typesetting</vt:lpstr>
      <vt:lpstr>Baskerville Display PT</vt:lpstr>
      <vt:lpstr>Arial</vt:lpstr>
      <vt:lpstr>Wingdings</vt:lpstr>
      <vt:lpstr>Baskerville Display PT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Quiz Portal - Capstone Review 2.pptx</dc:title>
  <dc:creator>Devasmithaa</dc:creator>
  <cp:lastModifiedBy>Devasmithaa K</cp:lastModifiedBy>
  <cp:revision>6</cp:revision>
  <dcterms:created xsi:type="dcterms:W3CDTF">2006-08-16T00:00:00Z</dcterms:created>
  <dcterms:modified xsi:type="dcterms:W3CDTF">2026-09-03T13:48:59Z</dcterms:modified>
  <dc:identifier>DAHTwFOH0wQ</dc:identifier>
</cp:coreProperties>
</file>